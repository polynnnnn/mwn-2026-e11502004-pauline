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68" r:id="rId15"/>
    <p:sldId id="275" r:id="rId16"/>
    <p:sldId id="276" r:id="rId17"/>
    <p:sldId id="277" r:id="rId18"/>
    <p:sldId id="285" r:id="rId19"/>
    <p:sldId id="278" r:id="rId20"/>
    <p:sldId id="279" r:id="rId21"/>
    <p:sldId id="280" r:id="rId22"/>
    <p:sldId id="281" r:id="rId23"/>
    <p:sldId id="269" r:id="rId24"/>
    <p:sldId id="270" r:id="rId25"/>
    <p:sldId id="282" r:id="rId26"/>
    <p:sldId id="283" r:id="rId27"/>
    <p:sldId id="284" r:id="rId28"/>
    <p:sldId id="271" r:id="rId29"/>
    <p:sldId id="272" r:id="rId30"/>
    <p:sldId id="273" r:id="rId31"/>
  </p:sldIdLst>
  <p:sldSz cx="18288000" cy="10287000"/>
  <p:notesSz cx="6858000" cy="9144000"/>
  <p:embeddedFontLst>
    <p:embeddedFont>
      <p:font typeface="Anton" pitchFamily="2" charset="77"/>
      <p:regular r:id="rId32"/>
    </p:embeddedFont>
    <p:embeddedFont>
      <p:font typeface="Big Shoulders Display Bold" pitchFamily="2" charset="77"/>
      <p:regular r:id="rId33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 autoAdjust="0"/>
    <p:restoredTop sz="94598" autoAdjust="0"/>
  </p:normalViewPr>
  <p:slideViewPr>
    <p:cSldViewPr>
      <p:cViewPr>
        <p:scale>
          <a:sx n="67" d="100"/>
          <a:sy n="67" d="100"/>
        </p:scale>
        <p:origin x="664" y="5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77785" y="4893818"/>
            <a:ext cx="15430065" cy="103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2"/>
              </a:lnSpc>
            </a:pPr>
            <a:r>
              <a:rPr lang="en-US" sz="10337" spc="465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A1 BACKGROUND STUDYNOTES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29838" y="9830007"/>
            <a:ext cx="5542982" cy="30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3023" spc="136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MULTIMEDIA WIRELESS NETWORKS </a:t>
            </a:r>
          </a:p>
        </p:txBody>
      </p:sp>
      <p:sp>
        <p:nvSpPr>
          <p:cNvPr id="4" name="Freeform 4"/>
          <p:cNvSpPr/>
          <p:nvPr/>
        </p:nvSpPr>
        <p:spPr>
          <a:xfrm rot="-1053749">
            <a:off x="-2025182" y="-3119302"/>
            <a:ext cx="6107765" cy="5680221"/>
          </a:xfrm>
          <a:custGeom>
            <a:avLst/>
            <a:gdLst/>
            <a:ahLst/>
            <a:cxnLst/>
            <a:rect l="l" t="t" r="r" b="b"/>
            <a:pathLst>
              <a:path w="6107765" h="5680221">
                <a:moveTo>
                  <a:pt x="0" y="0"/>
                </a:moveTo>
                <a:lnTo>
                  <a:pt x="6107764" y="0"/>
                </a:lnTo>
                <a:lnTo>
                  <a:pt x="6107764" y="5680221"/>
                </a:lnTo>
                <a:lnTo>
                  <a:pt x="0" y="5680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-1193706" y="9830007"/>
            <a:ext cx="5542982" cy="302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5"/>
              </a:lnSpc>
            </a:pPr>
            <a:r>
              <a:rPr lang="en-US" sz="3023" spc="136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PAULINE BEREAU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21539" y="5938883"/>
            <a:ext cx="6107765" cy="5680221"/>
          </a:xfrm>
          <a:custGeom>
            <a:avLst/>
            <a:gdLst/>
            <a:ahLst/>
            <a:cxnLst/>
            <a:rect l="l" t="t" r="r" b="b"/>
            <a:pathLst>
              <a:path w="6107765" h="5680221">
                <a:moveTo>
                  <a:pt x="0" y="0"/>
                </a:moveTo>
                <a:lnTo>
                  <a:pt x="6107765" y="0"/>
                </a:lnTo>
                <a:lnTo>
                  <a:pt x="6107765" y="5680221"/>
                </a:lnTo>
                <a:lnTo>
                  <a:pt x="0" y="5680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4424554" y="1504565"/>
            <a:ext cx="9801636" cy="130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46"/>
              </a:lnSpc>
              <a:spcBef>
                <a:spcPct val="0"/>
              </a:spcBef>
            </a:pPr>
            <a:r>
              <a:rPr lang="en-US" sz="13100" spc="58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SUMMARY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92117" y="3771527"/>
            <a:ext cx="9332037" cy="216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4242" lvl="1" indent="-417121" algn="l">
              <a:lnSpc>
                <a:spcPts val="5796"/>
              </a:lnSpc>
              <a:buAutoNum type="arabicPeriod"/>
            </a:pPr>
            <a:r>
              <a:rPr lang="en-US" sz="3864" spc="17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HOW TO MAKE A GOOD PRESENTATION </a:t>
            </a:r>
          </a:p>
          <a:p>
            <a:pPr marL="834242" lvl="1" indent="-417121" algn="l">
              <a:lnSpc>
                <a:spcPts val="5796"/>
              </a:lnSpc>
              <a:buAutoNum type="arabicPeriod"/>
            </a:pPr>
            <a:r>
              <a:rPr lang="en-US" sz="3864" spc="17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HOW TO READ A PAPER</a:t>
            </a:r>
          </a:p>
          <a:p>
            <a:pPr marL="834242" lvl="1" indent="-417121" algn="l">
              <a:lnSpc>
                <a:spcPts val="5796"/>
              </a:lnSpc>
              <a:spcBef>
                <a:spcPct val="0"/>
              </a:spcBef>
              <a:buAutoNum type="arabicPeriod"/>
            </a:pPr>
            <a:r>
              <a:rPr lang="en-US" sz="3864" spc="17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PROJECTS PATH 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291034" y="1815662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 flipV="1">
            <a:off x="13319036" y="1796612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6033" y="4727650"/>
            <a:ext cx="17035933" cy="79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545" lvl="1" indent="-863773" algn="l">
              <a:lnSpc>
                <a:spcPts val="5281"/>
              </a:lnSpc>
              <a:spcBef>
                <a:spcPct val="0"/>
              </a:spcBef>
              <a:buAutoNum type="arabicPeriod"/>
            </a:pPr>
            <a:r>
              <a:rPr lang="en-US" sz="8001" spc="36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HOW TO MAKE A GOOD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6200" y="4074079"/>
            <a:ext cx="4979494" cy="621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89"/>
              </a:lnSpc>
              <a:spcBef>
                <a:spcPct val="0"/>
              </a:spcBef>
            </a:pPr>
            <a:r>
              <a:rPr lang="en-US" sz="61802" spc="2781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69536" y="4016707"/>
            <a:ext cx="7069676" cy="318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69"/>
              </a:lnSpc>
            </a:pPr>
            <a:r>
              <a:rPr lang="en-US" sz="23869" b="1" dirty="0">
                <a:solidFill>
                  <a:srgbClr val="5170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30103" y="3305133"/>
            <a:ext cx="2767231" cy="2761460"/>
            <a:chOff x="0" y="0"/>
            <a:chExt cx="3689642" cy="368194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689642" cy="3681946"/>
              <a:chOff x="0" y="0"/>
              <a:chExt cx="812800" cy="8111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11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105">
                    <a:moveTo>
                      <a:pt x="406400" y="0"/>
                    </a:moveTo>
                    <a:lnTo>
                      <a:pt x="485289" y="111752"/>
                    </a:lnTo>
                    <a:lnTo>
                      <a:pt x="609600" y="54334"/>
                    </a:lnTo>
                    <a:lnTo>
                      <a:pt x="621927" y="190475"/>
                    </a:lnTo>
                    <a:lnTo>
                      <a:pt x="758353" y="202776"/>
                    </a:lnTo>
                    <a:lnTo>
                      <a:pt x="700814" y="326828"/>
                    </a:lnTo>
                    <a:lnTo>
                      <a:pt x="812800" y="405552"/>
                    </a:lnTo>
                    <a:lnTo>
                      <a:pt x="700814" y="484276"/>
                    </a:lnTo>
                    <a:lnTo>
                      <a:pt x="758353" y="608329"/>
                    </a:lnTo>
                    <a:lnTo>
                      <a:pt x="621927" y="620629"/>
                    </a:lnTo>
                    <a:lnTo>
                      <a:pt x="609600" y="756771"/>
                    </a:lnTo>
                    <a:lnTo>
                      <a:pt x="485289" y="699352"/>
                    </a:lnTo>
                    <a:lnTo>
                      <a:pt x="406400" y="811105"/>
                    </a:lnTo>
                    <a:lnTo>
                      <a:pt x="327511" y="699352"/>
                    </a:lnTo>
                    <a:lnTo>
                      <a:pt x="203200" y="756771"/>
                    </a:lnTo>
                    <a:lnTo>
                      <a:pt x="190873" y="620629"/>
                    </a:lnTo>
                    <a:lnTo>
                      <a:pt x="54447" y="608329"/>
                    </a:lnTo>
                    <a:lnTo>
                      <a:pt x="111986" y="484276"/>
                    </a:lnTo>
                    <a:lnTo>
                      <a:pt x="0" y="405552"/>
                    </a:lnTo>
                    <a:lnTo>
                      <a:pt x="111986" y="326828"/>
                    </a:lnTo>
                    <a:lnTo>
                      <a:pt x="54447" y="202776"/>
                    </a:lnTo>
                    <a:lnTo>
                      <a:pt x="190873" y="190475"/>
                    </a:lnTo>
                    <a:lnTo>
                      <a:pt x="203200" y="54334"/>
                    </a:lnTo>
                    <a:lnTo>
                      <a:pt x="327511" y="11175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107685"/>
                <a:ext cx="558800" cy="57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54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77856" y="1654438"/>
              <a:ext cx="3133929" cy="1593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89"/>
                </a:lnSpc>
                <a:spcBef>
                  <a:spcPct val="0"/>
                </a:spcBef>
              </a:pPr>
              <a:r>
                <a:rPr lang="en-US" sz="10589" spc="476" dirty="0">
                  <a:solidFill>
                    <a:srgbClr val="F1EEEB"/>
                  </a:solidFill>
                  <a:latin typeface="Anton"/>
                  <a:ea typeface="Anton"/>
                  <a:cs typeface="Anton"/>
                  <a:sym typeface="Anton"/>
                </a:rPr>
                <a:t>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389047" y="4064373"/>
            <a:ext cx="9560510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KEEP IT SIMPLE</a:t>
            </a:r>
          </a:p>
        </p:txBody>
      </p:sp>
      <p:sp>
        <p:nvSpPr>
          <p:cNvPr id="8" name="Freeform 8"/>
          <p:cNvSpPr/>
          <p:nvPr/>
        </p:nvSpPr>
        <p:spPr>
          <a:xfrm>
            <a:off x="13626348" y="5474562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30103" y="3305133"/>
            <a:ext cx="2767231" cy="2761460"/>
            <a:chOff x="0" y="0"/>
            <a:chExt cx="3689642" cy="368194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689642" cy="3681946"/>
              <a:chOff x="0" y="0"/>
              <a:chExt cx="812800" cy="8111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11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105">
                    <a:moveTo>
                      <a:pt x="406400" y="0"/>
                    </a:moveTo>
                    <a:lnTo>
                      <a:pt x="485289" y="111752"/>
                    </a:lnTo>
                    <a:lnTo>
                      <a:pt x="609600" y="54334"/>
                    </a:lnTo>
                    <a:lnTo>
                      <a:pt x="621927" y="190475"/>
                    </a:lnTo>
                    <a:lnTo>
                      <a:pt x="758353" y="202776"/>
                    </a:lnTo>
                    <a:lnTo>
                      <a:pt x="700814" y="326828"/>
                    </a:lnTo>
                    <a:lnTo>
                      <a:pt x="812800" y="405552"/>
                    </a:lnTo>
                    <a:lnTo>
                      <a:pt x="700814" y="484276"/>
                    </a:lnTo>
                    <a:lnTo>
                      <a:pt x="758353" y="608329"/>
                    </a:lnTo>
                    <a:lnTo>
                      <a:pt x="621927" y="620629"/>
                    </a:lnTo>
                    <a:lnTo>
                      <a:pt x="609600" y="756771"/>
                    </a:lnTo>
                    <a:lnTo>
                      <a:pt x="485289" y="699352"/>
                    </a:lnTo>
                    <a:lnTo>
                      <a:pt x="406400" y="811105"/>
                    </a:lnTo>
                    <a:lnTo>
                      <a:pt x="327511" y="699352"/>
                    </a:lnTo>
                    <a:lnTo>
                      <a:pt x="203200" y="756771"/>
                    </a:lnTo>
                    <a:lnTo>
                      <a:pt x="190873" y="620629"/>
                    </a:lnTo>
                    <a:lnTo>
                      <a:pt x="54447" y="608329"/>
                    </a:lnTo>
                    <a:lnTo>
                      <a:pt x="111986" y="484276"/>
                    </a:lnTo>
                    <a:lnTo>
                      <a:pt x="0" y="405552"/>
                    </a:lnTo>
                    <a:lnTo>
                      <a:pt x="111986" y="326828"/>
                    </a:lnTo>
                    <a:lnTo>
                      <a:pt x="54447" y="202776"/>
                    </a:lnTo>
                    <a:lnTo>
                      <a:pt x="190873" y="190475"/>
                    </a:lnTo>
                    <a:lnTo>
                      <a:pt x="203200" y="54334"/>
                    </a:lnTo>
                    <a:lnTo>
                      <a:pt x="327511" y="11175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107685"/>
                <a:ext cx="558800" cy="57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54"/>
                  </a:lnSpc>
                </a:pPr>
                <a:endParaRPr lang="en-US" dirty="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77856" y="1579449"/>
              <a:ext cx="3133929" cy="1593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89"/>
                </a:lnSpc>
                <a:spcBef>
                  <a:spcPct val="0"/>
                </a:spcBef>
              </a:pPr>
              <a:r>
                <a:rPr lang="en-US" sz="10589" spc="476" dirty="0">
                  <a:solidFill>
                    <a:srgbClr val="F1EEEB"/>
                  </a:solidFill>
                  <a:latin typeface="Anton"/>
                  <a:ea typeface="Anton"/>
                  <a:cs typeface="Anton"/>
                  <a:sym typeface="Anton"/>
                </a:rPr>
                <a:t>2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63195" y="4064373"/>
            <a:ext cx="123256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NEVER READ FROM YOUR SLIDES</a:t>
            </a:r>
          </a:p>
        </p:txBody>
      </p:sp>
      <p:sp>
        <p:nvSpPr>
          <p:cNvPr id="8" name="Freeform 8"/>
          <p:cNvSpPr/>
          <p:nvPr/>
        </p:nvSpPr>
        <p:spPr>
          <a:xfrm>
            <a:off x="14503562" y="-2553851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30103" y="3305133"/>
            <a:ext cx="2767231" cy="2761460"/>
            <a:chOff x="0" y="0"/>
            <a:chExt cx="3689642" cy="368194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689642" cy="3681946"/>
              <a:chOff x="0" y="0"/>
              <a:chExt cx="812800" cy="8111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11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105">
                    <a:moveTo>
                      <a:pt x="406400" y="0"/>
                    </a:moveTo>
                    <a:lnTo>
                      <a:pt x="485289" y="111752"/>
                    </a:lnTo>
                    <a:lnTo>
                      <a:pt x="609600" y="54334"/>
                    </a:lnTo>
                    <a:lnTo>
                      <a:pt x="621927" y="190475"/>
                    </a:lnTo>
                    <a:lnTo>
                      <a:pt x="758353" y="202776"/>
                    </a:lnTo>
                    <a:lnTo>
                      <a:pt x="700814" y="326828"/>
                    </a:lnTo>
                    <a:lnTo>
                      <a:pt x="812800" y="405552"/>
                    </a:lnTo>
                    <a:lnTo>
                      <a:pt x="700814" y="484276"/>
                    </a:lnTo>
                    <a:lnTo>
                      <a:pt x="758353" y="608329"/>
                    </a:lnTo>
                    <a:lnTo>
                      <a:pt x="621927" y="620629"/>
                    </a:lnTo>
                    <a:lnTo>
                      <a:pt x="609600" y="756771"/>
                    </a:lnTo>
                    <a:lnTo>
                      <a:pt x="485289" y="699352"/>
                    </a:lnTo>
                    <a:lnTo>
                      <a:pt x="406400" y="811105"/>
                    </a:lnTo>
                    <a:lnTo>
                      <a:pt x="327511" y="699352"/>
                    </a:lnTo>
                    <a:lnTo>
                      <a:pt x="203200" y="756771"/>
                    </a:lnTo>
                    <a:lnTo>
                      <a:pt x="190873" y="620629"/>
                    </a:lnTo>
                    <a:lnTo>
                      <a:pt x="54447" y="608329"/>
                    </a:lnTo>
                    <a:lnTo>
                      <a:pt x="111986" y="484276"/>
                    </a:lnTo>
                    <a:lnTo>
                      <a:pt x="0" y="405552"/>
                    </a:lnTo>
                    <a:lnTo>
                      <a:pt x="111986" y="326828"/>
                    </a:lnTo>
                    <a:lnTo>
                      <a:pt x="54447" y="202776"/>
                    </a:lnTo>
                    <a:lnTo>
                      <a:pt x="190873" y="190475"/>
                    </a:lnTo>
                    <a:lnTo>
                      <a:pt x="203200" y="54334"/>
                    </a:lnTo>
                    <a:lnTo>
                      <a:pt x="327511" y="11175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107685"/>
                <a:ext cx="558800" cy="57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54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77856" y="1654438"/>
              <a:ext cx="3133929" cy="1593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89"/>
                </a:lnSpc>
                <a:spcBef>
                  <a:spcPct val="0"/>
                </a:spcBef>
              </a:pPr>
              <a:r>
                <a:rPr lang="en-US" sz="10589" spc="476" dirty="0">
                  <a:solidFill>
                    <a:srgbClr val="F1EEEB"/>
                  </a:solidFill>
                  <a:latin typeface="Anton"/>
                  <a:ea typeface="Anton"/>
                  <a:cs typeface="Anton"/>
                  <a:sym typeface="Anton"/>
                </a:rPr>
                <a:t>3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99466" y="4064373"/>
            <a:ext cx="123256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USE BEAUTIFUL PHOTOS</a:t>
            </a:r>
          </a:p>
        </p:txBody>
      </p:sp>
      <p:sp>
        <p:nvSpPr>
          <p:cNvPr id="8" name="Freeform 8"/>
          <p:cNvSpPr/>
          <p:nvPr/>
        </p:nvSpPr>
        <p:spPr>
          <a:xfrm>
            <a:off x="-1727639" y="6866662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30103" y="3305133"/>
            <a:ext cx="2767231" cy="2761460"/>
            <a:chOff x="0" y="0"/>
            <a:chExt cx="3689642" cy="368194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689642" cy="3681946"/>
              <a:chOff x="0" y="0"/>
              <a:chExt cx="812800" cy="8111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11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105">
                    <a:moveTo>
                      <a:pt x="406400" y="0"/>
                    </a:moveTo>
                    <a:lnTo>
                      <a:pt x="485289" y="111752"/>
                    </a:lnTo>
                    <a:lnTo>
                      <a:pt x="609600" y="54334"/>
                    </a:lnTo>
                    <a:lnTo>
                      <a:pt x="621927" y="190475"/>
                    </a:lnTo>
                    <a:lnTo>
                      <a:pt x="758353" y="202776"/>
                    </a:lnTo>
                    <a:lnTo>
                      <a:pt x="700814" y="326828"/>
                    </a:lnTo>
                    <a:lnTo>
                      <a:pt x="812800" y="405552"/>
                    </a:lnTo>
                    <a:lnTo>
                      <a:pt x="700814" y="484276"/>
                    </a:lnTo>
                    <a:lnTo>
                      <a:pt x="758353" y="608329"/>
                    </a:lnTo>
                    <a:lnTo>
                      <a:pt x="621927" y="620629"/>
                    </a:lnTo>
                    <a:lnTo>
                      <a:pt x="609600" y="756771"/>
                    </a:lnTo>
                    <a:lnTo>
                      <a:pt x="485289" y="699352"/>
                    </a:lnTo>
                    <a:lnTo>
                      <a:pt x="406400" y="811105"/>
                    </a:lnTo>
                    <a:lnTo>
                      <a:pt x="327511" y="699352"/>
                    </a:lnTo>
                    <a:lnTo>
                      <a:pt x="203200" y="756771"/>
                    </a:lnTo>
                    <a:lnTo>
                      <a:pt x="190873" y="620629"/>
                    </a:lnTo>
                    <a:lnTo>
                      <a:pt x="54447" y="608329"/>
                    </a:lnTo>
                    <a:lnTo>
                      <a:pt x="111986" y="484276"/>
                    </a:lnTo>
                    <a:lnTo>
                      <a:pt x="0" y="405552"/>
                    </a:lnTo>
                    <a:lnTo>
                      <a:pt x="111986" y="326828"/>
                    </a:lnTo>
                    <a:lnTo>
                      <a:pt x="54447" y="202776"/>
                    </a:lnTo>
                    <a:lnTo>
                      <a:pt x="190873" y="190475"/>
                    </a:lnTo>
                    <a:lnTo>
                      <a:pt x="203200" y="54334"/>
                    </a:lnTo>
                    <a:lnTo>
                      <a:pt x="327511" y="11175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107685"/>
                <a:ext cx="558800" cy="57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54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77856" y="1654438"/>
              <a:ext cx="3133929" cy="1593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89"/>
                </a:lnSpc>
                <a:spcBef>
                  <a:spcPct val="0"/>
                </a:spcBef>
              </a:pPr>
              <a:r>
                <a:rPr lang="en-US" sz="10589" spc="476" dirty="0">
                  <a:solidFill>
                    <a:srgbClr val="F1EEEB"/>
                  </a:solidFill>
                  <a:latin typeface="Anton"/>
                  <a:ea typeface="Anton"/>
                  <a:cs typeface="Anton"/>
                  <a:sym typeface="Anton"/>
                </a:rPr>
                <a:t>4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52959" y="4064373"/>
            <a:ext cx="8931205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KEEP DATA SIMPLE</a:t>
            </a:r>
          </a:p>
        </p:txBody>
      </p:sp>
      <p:sp>
        <p:nvSpPr>
          <p:cNvPr id="8" name="Freeform 8"/>
          <p:cNvSpPr/>
          <p:nvPr/>
        </p:nvSpPr>
        <p:spPr>
          <a:xfrm>
            <a:off x="-3111255" y="-3127113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30103" y="3271795"/>
            <a:ext cx="2767231" cy="2761460"/>
            <a:chOff x="0" y="-44450"/>
            <a:chExt cx="3689642" cy="368194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-44450"/>
              <a:ext cx="3689642" cy="3681946"/>
              <a:chOff x="0" y="-9792"/>
              <a:chExt cx="812800" cy="8111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-9792"/>
                <a:ext cx="812800" cy="81110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105">
                    <a:moveTo>
                      <a:pt x="406400" y="0"/>
                    </a:moveTo>
                    <a:lnTo>
                      <a:pt x="485289" y="111752"/>
                    </a:lnTo>
                    <a:lnTo>
                      <a:pt x="609600" y="54334"/>
                    </a:lnTo>
                    <a:lnTo>
                      <a:pt x="621927" y="190475"/>
                    </a:lnTo>
                    <a:lnTo>
                      <a:pt x="758353" y="202776"/>
                    </a:lnTo>
                    <a:lnTo>
                      <a:pt x="700814" y="326828"/>
                    </a:lnTo>
                    <a:lnTo>
                      <a:pt x="812800" y="405552"/>
                    </a:lnTo>
                    <a:lnTo>
                      <a:pt x="700814" y="484276"/>
                    </a:lnTo>
                    <a:lnTo>
                      <a:pt x="758353" y="608329"/>
                    </a:lnTo>
                    <a:lnTo>
                      <a:pt x="621927" y="620629"/>
                    </a:lnTo>
                    <a:lnTo>
                      <a:pt x="609600" y="756771"/>
                    </a:lnTo>
                    <a:lnTo>
                      <a:pt x="485289" y="699352"/>
                    </a:lnTo>
                    <a:lnTo>
                      <a:pt x="406400" y="811105"/>
                    </a:lnTo>
                    <a:lnTo>
                      <a:pt x="327511" y="699352"/>
                    </a:lnTo>
                    <a:lnTo>
                      <a:pt x="203200" y="756771"/>
                    </a:lnTo>
                    <a:lnTo>
                      <a:pt x="190873" y="620629"/>
                    </a:lnTo>
                    <a:lnTo>
                      <a:pt x="54447" y="608329"/>
                    </a:lnTo>
                    <a:lnTo>
                      <a:pt x="111986" y="484276"/>
                    </a:lnTo>
                    <a:lnTo>
                      <a:pt x="0" y="405552"/>
                    </a:lnTo>
                    <a:lnTo>
                      <a:pt x="111986" y="326828"/>
                    </a:lnTo>
                    <a:lnTo>
                      <a:pt x="54447" y="202776"/>
                    </a:lnTo>
                    <a:lnTo>
                      <a:pt x="190873" y="190475"/>
                    </a:lnTo>
                    <a:lnTo>
                      <a:pt x="203200" y="54334"/>
                    </a:lnTo>
                    <a:lnTo>
                      <a:pt x="327511" y="11175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107685"/>
                <a:ext cx="558800" cy="5766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54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77856" y="1654439"/>
              <a:ext cx="3133929" cy="15934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989"/>
                </a:lnSpc>
                <a:spcBef>
                  <a:spcPct val="0"/>
                </a:spcBef>
              </a:pPr>
              <a:r>
                <a:rPr lang="en-US" sz="10589" spc="476" dirty="0">
                  <a:solidFill>
                    <a:srgbClr val="F1EEEB"/>
                  </a:solidFill>
                  <a:latin typeface="Anton"/>
                  <a:ea typeface="Anton"/>
                  <a:cs typeface="Anton"/>
                  <a:sym typeface="Anton"/>
                </a:rPr>
                <a:t>5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339007" y="4064373"/>
            <a:ext cx="8931205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REPEAT YOUR STYLE</a:t>
            </a:r>
          </a:p>
        </p:txBody>
      </p:sp>
      <p:sp>
        <p:nvSpPr>
          <p:cNvPr id="8" name="Freeform 8"/>
          <p:cNvSpPr/>
          <p:nvPr/>
        </p:nvSpPr>
        <p:spPr>
          <a:xfrm>
            <a:off x="13626348" y="5474562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3256" y="4954850"/>
            <a:ext cx="17035933" cy="79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772" lvl="1" algn="l">
              <a:lnSpc>
                <a:spcPts val="5281"/>
              </a:lnSpc>
              <a:spcBef>
                <a:spcPct val="0"/>
              </a:spcBef>
            </a:pPr>
            <a:r>
              <a:rPr lang="en-US" sz="8001" spc="360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2. HOW TO READ A PAPER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5446055" y="5927850"/>
            <a:ext cx="1314765" cy="1082748"/>
            <a:chOff x="0" y="0"/>
            <a:chExt cx="647700" cy="533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7700" cy="533400"/>
            </a:xfrm>
            <a:custGeom>
              <a:avLst/>
              <a:gdLst/>
              <a:ahLst/>
              <a:cxnLst/>
              <a:rect l="l" t="t" r="r" b="b"/>
              <a:pathLst>
                <a:path w="647700" h="5334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43256" y="4954850"/>
            <a:ext cx="17035933" cy="79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772" lvl="1" algn="l">
              <a:lnSpc>
                <a:spcPts val="5281"/>
              </a:lnSpc>
              <a:spcBef>
                <a:spcPct val="0"/>
              </a:spcBef>
            </a:pPr>
            <a:r>
              <a:rPr lang="en-US" sz="8001" spc="360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2. HOW TO READ A PAPER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95368" y="6393373"/>
            <a:ext cx="17913147" cy="731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4001" spc="18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METHOD BY S. KESHAV (UNIV. OF WATERLOO)</a:t>
            </a:r>
          </a:p>
          <a:p>
            <a:pPr algn="l">
              <a:lnSpc>
                <a:spcPts val="2641"/>
              </a:lnSpc>
              <a:spcBef>
                <a:spcPct val="0"/>
              </a:spcBef>
            </a:pPr>
            <a:endParaRPr lang="en-US" sz="4001" spc="18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76198" y="3792032"/>
            <a:ext cx="15567554" cy="3007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9"/>
              </a:lnSpc>
            </a:pPr>
            <a:r>
              <a:rPr lang="en-US" sz="5801" spc="261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MAXIMIZE EFFICIENCY</a:t>
            </a:r>
          </a:p>
          <a:p>
            <a:pPr algn="l">
              <a:lnSpc>
                <a:spcPts val="3829"/>
              </a:lnSpc>
            </a:pPr>
            <a:endParaRPr lang="en-US" sz="5801" spc="261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3829"/>
              </a:lnSpc>
            </a:pPr>
            <a:r>
              <a:rPr lang="en-US" sz="5801" spc="261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MINIMIZE WASTED TIME</a:t>
            </a:r>
          </a:p>
          <a:p>
            <a:pPr algn="l">
              <a:lnSpc>
                <a:spcPts val="3829"/>
              </a:lnSpc>
            </a:pPr>
            <a:endParaRPr lang="en-US" sz="5801" spc="261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3829"/>
              </a:lnSpc>
            </a:pPr>
            <a:r>
              <a:rPr lang="en-US" sz="5801" spc="261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STOP READING FROM START TO FINISH!</a:t>
            </a:r>
          </a:p>
          <a:p>
            <a:pPr algn="l">
              <a:lnSpc>
                <a:spcPts val="3829"/>
              </a:lnSpc>
              <a:spcBef>
                <a:spcPct val="0"/>
              </a:spcBef>
            </a:pPr>
            <a:endParaRPr lang="en-US" sz="5801" spc="261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TextBox 3"/>
          <p:cNvSpPr txBox="1"/>
          <p:nvPr/>
        </p:nvSpPr>
        <p:spPr>
          <a:xfrm rot="-5400000">
            <a:off x="-2114782" y="2017870"/>
            <a:ext cx="9993388" cy="44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1"/>
              </a:lnSpc>
            </a:pPr>
            <a:r>
              <a:rPr lang="en-US" sz="33741" b="1" dirty="0">
                <a:solidFill>
                  <a:srgbClr val="5170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GOAL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43636-32C1-2077-6B28-CE01451E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64F7905-4AD8-3F78-F765-114F05D57C58}"/>
              </a:ext>
            </a:extLst>
          </p:cNvPr>
          <p:cNvSpPr txBox="1"/>
          <p:nvPr/>
        </p:nvSpPr>
        <p:spPr>
          <a:xfrm>
            <a:off x="3886200" y="4074079"/>
            <a:ext cx="4979494" cy="621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89"/>
              </a:lnSpc>
              <a:spcBef>
                <a:spcPct val="0"/>
              </a:spcBef>
            </a:pPr>
            <a:r>
              <a:rPr lang="en-US" sz="61802" spc="2781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3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1778CD2-6ACB-C132-4F67-C141A188E58C}"/>
              </a:ext>
            </a:extLst>
          </p:cNvPr>
          <p:cNvSpPr txBox="1"/>
          <p:nvPr/>
        </p:nvSpPr>
        <p:spPr>
          <a:xfrm>
            <a:off x="6934200" y="3771900"/>
            <a:ext cx="7069676" cy="3064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69"/>
              </a:lnSpc>
            </a:pPr>
            <a:r>
              <a:rPr lang="en-US" sz="23869" b="1" dirty="0">
                <a:solidFill>
                  <a:srgbClr val="5170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2415925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820004" y="3262622"/>
            <a:ext cx="15942407" cy="74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TIME: 5–10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B928D-FA0E-B935-D05A-8B18415F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F179141-8AEB-12C2-096F-E98691516D64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1AA3C8-A122-374A-38F6-47143655FBE7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B27CE70-25AE-8FFB-DE83-470104DB25A9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EAB306D-8ABF-7754-E1B3-C8D8751102A1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ABCE66B-B962-C2CD-1A03-6F6AA1B9D1EA}"/>
              </a:ext>
            </a:extLst>
          </p:cNvPr>
          <p:cNvSpPr txBox="1"/>
          <p:nvPr/>
        </p:nvSpPr>
        <p:spPr>
          <a:xfrm>
            <a:off x="820004" y="3262622"/>
            <a:ext cx="15942407" cy="312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TIME: 5–10 MINUTES</a:t>
            </a:r>
          </a:p>
          <a:p>
            <a:pPr algn="l">
              <a:lnSpc>
                <a:spcPts val="6162"/>
              </a:lnSpc>
            </a:pPr>
            <a:endParaRPr lang="en-US" sz="4401" spc="198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FOCUS: TITLE, ABSTRACT, INTRO, HEADINGS, CONCLUSION</a:t>
            </a:r>
          </a:p>
          <a:p>
            <a:pPr algn="l">
              <a:lnSpc>
                <a:spcPts val="6162"/>
              </a:lnSpc>
            </a:pPr>
            <a:endParaRPr lang="en-US" sz="4401" spc="198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4164644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6A33D-484F-B8FD-6C9A-A0897B73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0C09701-56F3-E559-DF16-77DBD9C586E4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4AE292A-5011-50CE-D282-81C255AB0E16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1B3B5E1-651C-957C-272E-8C7D1F89B7C0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D6BE350-18F8-B29B-A9DB-93FC47C96802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B1A4D09-DD49-587F-3E6C-7BFEAA1E7FD2}"/>
              </a:ext>
            </a:extLst>
          </p:cNvPr>
          <p:cNvSpPr txBox="1"/>
          <p:nvPr/>
        </p:nvSpPr>
        <p:spPr>
          <a:xfrm>
            <a:off x="820004" y="3262622"/>
            <a:ext cx="15942407" cy="392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TIME: 5–10 MINUTES</a:t>
            </a:r>
          </a:p>
          <a:p>
            <a:pPr algn="l">
              <a:lnSpc>
                <a:spcPts val="6162"/>
              </a:lnSpc>
            </a:pPr>
            <a:endParaRPr lang="en-US" sz="4401" spc="198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FOCUS: TITLE, ABSTRACT, INTRO, HEADINGS, CONCLUSION</a:t>
            </a:r>
          </a:p>
          <a:p>
            <a:pPr algn="l">
              <a:lnSpc>
                <a:spcPts val="6162"/>
              </a:lnSpc>
            </a:pPr>
            <a:endParaRPr lang="en-US" sz="4401" spc="198" dirty="0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GOAL: ANSWER THE "5 CS"</a:t>
            </a:r>
          </a:p>
        </p:txBody>
      </p:sp>
    </p:spTree>
    <p:extLst>
      <p:ext uri="{BB962C8B-B14F-4D97-AF65-F5344CB8AC3E}">
        <p14:creationId xmlns:p14="http://schemas.microsoft.com/office/powerpoint/2010/main" val="4097365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FB54B-1767-9FA2-DAAD-6D0B16C51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3984B0D-18FC-19F8-9F92-996F945A36FE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442574C-7EFC-3D41-46A0-B63B7A7DB4E7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05956C2-03C2-FF38-66CF-7CCEF1E2E56D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E33C66C-DFA2-E6A5-7E34-0417265DF66A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802BF-7AAD-BF55-D0C6-FC862A42614E}"/>
              </a:ext>
            </a:extLst>
          </p:cNvPr>
          <p:cNvSpPr txBox="1"/>
          <p:nvPr/>
        </p:nvSpPr>
        <p:spPr>
          <a:xfrm>
            <a:off x="533400" y="3049142"/>
            <a:ext cx="10953750" cy="85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5174" lvl="1" algn="l">
              <a:lnSpc>
                <a:spcPts val="6162"/>
              </a:lnSpc>
            </a:pPr>
            <a:r>
              <a:rPr lang="en-US" sz="5000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THE "5 CS" </a:t>
            </a:r>
          </a:p>
        </p:txBody>
      </p:sp>
    </p:spTree>
    <p:extLst>
      <p:ext uri="{BB962C8B-B14F-4D97-AF65-F5344CB8AC3E}">
        <p14:creationId xmlns:p14="http://schemas.microsoft.com/office/powerpoint/2010/main" val="245490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A8A75-BBC4-D5B2-79D3-5FD5B9E3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1517F2C-23EC-FDD6-17B5-4B7943417FA7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905742-F379-F07F-79F6-BBF4C0183921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5FFD1D3-2D57-EE6C-7B19-3114DB2D391F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5E53863-BF96-C38B-B20B-887EFFC5034C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F9AC5F-9850-CF89-AC58-6536E3C2E4D9}"/>
              </a:ext>
            </a:extLst>
          </p:cNvPr>
          <p:cNvSpPr txBox="1"/>
          <p:nvPr/>
        </p:nvSpPr>
        <p:spPr>
          <a:xfrm>
            <a:off x="1676400" y="4613128"/>
            <a:ext cx="15942407" cy="744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CATEGORY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9436E-FC54-1E13-D72B-DC0BB529D468}"/>
              </a:ext>
            </a:extLst>
          </p:cNvPr>
          <p:cNvSpPr txBox="1"/>
          <p:nvPr/>
        </p:nvSpPr>
        <p:spPr>
          <a:xfrm>
            <a:off x="533400" y="3049142"/>
            <a:ext cx="10953750" cy="85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5174" lvl="1" algn="l">
              <a:lnSpc>
                <a:spcPts val="6162"/>
              </a:lnSpc>
            </a:pPr>
            <a:r>
              <a:rPr lang="en-US" sz="5000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THE "5 CS" </a:t>
            </a:r>
          </a:p>
        </p:txBody>
      </p:sp>
    </p:spTree>
    <p:extLst>
      <p:ext uri="{BB962C8B-B14F-4D97-AF65-F5344CB8AC3E}">
        <p14:creationId xmlns:p14="http://schemas.microsoft.com/office/powerpoint/2010/main" val="1074664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E6100-7118-7E43-1C95-B8EF3211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75E6DB6-8CC0-21E8-E59D-38D195A3C7E5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9326534-31A5-D2B7-35B2-B4262D6E0602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9855AB3-0D8D-45B0-F334-FF3A898C66F9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C8587C5-3E07-50FB-5CAB-3B1982DA09E1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9CD1B8E-CBE0-B8DD-8668-9244CEE0C6FC}"/>
              </a:ext>
            </a:extLst>
          </p:cNvPr>
          <p:cNvSpPr txBox="1"/>
          <p:nvPr/>
        </p:nvSpPr>
        <p:spPr>
          <a:xfrm>
            <a:off x="1676400" y="4613128"/>
            <a:ext cx="15942407" cy="153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CATEGORY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E312B-3CFF-9872-1EAB-810C2641964A}"/>
              </a:ext>
            </a:extLst>
          </p:cNvPr>
          <p:cNvSpPr txBox="1"/>
          <p:nvPr/>
        </p:nvSpPr>
        <p:spPr>
          <a:xfrm>
            <a:off x="533400" y="3049142"/>
            <a:ext cx="10953750" cy="85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5174" lvl="1" algn="l">
              <a:lnSpc>
                <a:spcPts val="6162"/>
              </a:lnSpc>
            </a:pPr>
            <a:r>
              <a:rPr lang="en-US" sz="5000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THE "5 CS" </a:t>
            </a:r>
          </a:p>
        </p:txBody>
      </p:sp>
    </p:spTree>
    <p:extLst>
      <p:ext uri="{BB962C8B-B14F-4D97-AF65-F5344CB8AC3E}">
        <p14:creationId xmlns:p14="http://schemas.microsoft.com/office/powerpoint/2010/main" val="2650032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5C6860-382D-1BAB-913F-B2B93438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09EA56F-CE9C-E056-D315-C45154939F39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D3CC19-93C2-E572-0F6A-2E2C2211BAB3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09B5EBE-4918-824F-41F3-FC8116C3A2AD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EB81095-CAB6-5D17-489D-CCB654D67962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B06970F-0074-92CF-B3B0-E513D1B9277E}"/>
              </a:ext>
            </a:extLst>
          </p:cNvPr>
          <p:cNvSpPr txBox="1"/>
          <p:nvPr/>
        </p:nvSpPr>
        <p:spPr>
          <a:xfrm>
            <a:off x="1676400" y="4613128"/>
            <a:ext cx="15942407" cy="233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CATEGORY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CONTEXT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CORRECTNESS</a:t>
            </a:r>
            <a:r>
              <a:rPr lang="en-US" sz="4401" spc="198" dirty="0">
                <a:solidFill>
                  <a:srgbClr val="1800AD"/>
                </a:solidFill>
                <a:latin typeface="Anton"/>
                <a:ea typeface="Anton"/>
                <a:cs typeface="Anton"/>
                <a:sym typeface="Anton"/>
              </a:rPr>
              <a:t>,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16940-04A2-EE31-A319-B429905EB2BD}"/>
              </a:ext>
            </a:extLst>
          </p:cNvPr>
          <p:cNvSpPr txBox="1"/>
          <p:nvPr/>
        </p:nvSpPr>
        <p:spPr>
          <a:xfrm>
            <a:off x="533400" y="3049142"/>
            <a:ext cx="10953750" cy="85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5174" lvl="1" algn="l">
              <a:lnSpc>
                <a:spcPts val="6162"/>
              </a:lnSpc>
            </a:pPr>
            <a:r>
              <a:rPr lang="en-US" sz="5000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THE "5 CS" </a:t>
            </a:r>
          </a:p>
        </p:txBody>
      </p:sp>
    </p:spTree>
    <p:extLst>
      <p:ext uri="{BB962C8B-B14F-4D97-AF65-F5344CB8AC3E}">
        <p14:creationId xmlns:p14="http://schemas.microsoft.com/office/powerpoint/2010/main" val="1861520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1C5ED-51B2-8A6B-07A4-BB9C37CD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1887B16-4ECE-E74D-77FD-DB9C583EADC7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51F396-C018-126E-05BD-AB0FC961EC4C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0678D0C-2053-F3CA-F8FA-A1C5DCC630CF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D6BF54E-CFF1-828B-17B4-CDABE2E0B117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AE930DE-1BCE-35A0-8A05-6B06E1501E9C}"/>
              </a:ext>
            </a:extLst>
          </p:cNvPr>
          <p:cNvSpPr txBox="1"/>
          <p:nvPr/>
        </p:nvSpPr>
        <p:spPr>
          <a:xfrm>
            <a:off x="1676400" y="4613128"/>
            <a:ext cx="15942407" cy="312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CATEGORY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CONTEXT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CORRECTNESS</a:t>
            </a:r>
            <a:r>
              <a:rPr lang="en-US" sz="4401" spc="198" dirty="0">
                <a:solidFill>
                  <a:srgbClr val="1800AD"/>
                </a:solidFill>
                <a:latin typeface="Anton"/>
                <a:ea typeface="Anton"/>
                <a:cs typeface="Anton"/>
                <a:sym typeface="Anton"/>
              </a:rPr>
              <a:t>, 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CONTRIBUTIONS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F4F1D-0353-CFDD-41A8-8469374EC408}"/>
              </a:ext>
            </a:extLst>
          </p:cNvPr>
          <p:cNvSpPr txBox="1"/>
          <p:nvPr/>
        </p:nvSpPr>
        <p:spPr>
          <a:xfrm>
            <a:off x="533400" y="3049142"/>
            <a:ext cx="10953750" cy="85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5174" lvl="1" algn="l">
              <a:lnSpc>
                <a:spcPts val="6162"/>
              </a:lnSpc>
            </a:pPr>
            <a:r>
              <a:rPr lang="en-US" sz="5000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THE "5 CS" </a:t>
            </a:r>
          </a:p>
        </p:txBody>
      </p:sp>
    </p:spTree>
    <p:extLst>
      <p:ext uri="{BB962C8B-B14F-4D97-AF65-F5344CB8AC3E}">
        <p14:creationId xmlns:p14="http://schemas.microsoft.com/office/powerpoint/2010/main" val="30199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0D933-91A0-D855-289F-F854B3D2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D94AD26-E454-E0D0-3CEA-A26A690ED390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1: THE BIRD'S-EYE VIEW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1FA50E0-D7F0-EF3F-07C3-7201FD4E1247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C9CA625-751D-8725-A9F6-1D2E26273E09}"/>
              </a:ext>
            </a:extLst>
          </p:cNvPr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DAC78F7-D8D9-B60C-D6CA-A1B2EF921695}"/>
              </a:ext>
            </a:extLst>
          </p:cNvPr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EF40AD1-5F92-3C22-580F-1FC9594B6559}"/>
              </a:ext>
            </a:extLst>
          </p:cNvPr>
          <p:cNvSpPr txBox="1"/>
          <p:nvPr/>
        </p:nvSpPr>
        <p:spPr>
          <a:xfrm>
            <a:off x="1676400" y="4613128"/>
            <a:ext cx="15942407" cy="3924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CATEGORY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CONTEXT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CORRECTNESS</a:t>
            </a:r>
            <a:r>
              <a:rPr lang="en-US" sz="4401" spc="198" dirty="0">
                <a:solidFill>
                  <a:srgbClr val="1800AD"/>
                </a:solidFill>
                <a:latin typeface="Anton"/>
                <a:ea typeface="Anton"/>
                <a:cs typeface="Anton"/>
                <a:sym typeface="Anton"/>
              </a:rPr>
              <a:t>, 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CONTRIBUTIONS</a:t>
            </a:r>
          </a:p>
          <a:p>
            <a:pPr marL="1160974" lvl="1" indent="-685800" algn="l">
              <a:lnSpc>
                <a:spcPts val="6162"/>
              </a:lnSpc>
              <a:buFont typeface="Arial" panose="020B0604020202020204" pitchFamily="34" charset="0"/>
              <a:buChar char="•"/>
            </a:pPr>
            <a:r>
              <a:rPr lang="en-US" sz="4401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CLARITY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0C34B-7E71-C719-22A4-9364254808B1}"/>
              </a:ext>
            </a:extLst>
          </p:cNvPr>
          <p:cNvSpPr txBox="1"/>
          <p:nvPr/>
        </p:nvSpPr>
        <p:spPr>
          <a:xfrm>
            <a:off x="533400" y="3049142"/>
            <a:ext cx="10953750" cy="85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5174" lvl="1" algn="l">
              <a:lnSpc>
                <a:spcPts val="6162"/>
              </a:lnSpc>
            </a:pPr>
            <a:r>
              <a:rPr lang="en-US" sz="5000" spc="198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THE "5 CS" </a:t>
            </a:r>
          </a:p>
        </p:txBody>
      </p:sp>
    </p:spTree>
    <p:extLst>
      <p:ext uri="{BB962C8B-B14F-4D97-AF65-F5344CB8AC3E}">
        <p14:creationId xmlns:p14="http://schemas.microsoft.com/office/powerpoint/2010/main" val="1224012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2 &amp; 3 (DEEPER DIVE)</a:t>
            </a:r>
          </a:p>
        </p:txBody>
      </p:sp>
      <p:sp>
        <p:nvSpPr>
          <p:cNvPr id="3" name="Freeform 3"/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flipV="1">
            <a:off x="165912" y="176819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/>
          <p:nvPr/>
        </p:nvSpPr>
        <p:spPr>
          <a:xfrm flipV="1">
            <a:off x="14182103" y="1749143"/>
            <a:ext cx="3940241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820004" y="3262622"/>
            <a:ext cx="15942407" cy="386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2 (1 HOUR): MAIN IDEAS, GRAPHS, FIGURES, ERROR BARS</a:t>
            </a:r>
          </a:p>
          <a:p>
            <a:pPr algn="l">
              <a:lnSpc>
                <a:spcPts val="6162"/>
              </a:lnSpc>
            </a:pPr>
            <a:endParaRPr lang="en-US" sz="4401" spc="198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950349" lvl="1" indent="-475175" algn="l">
              <a:lnSpc>
                <a:spcPts val="6162"/>
              </a:lnSpc>
              <a:buFont typeface="Arial"/>
              <a:buChar char="•"/>
            </a:pPr>
            <a:r>
              <a:rPr lang="en-US" sz="4401" spc="198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PASS 3 (1–5 HOURS): DEEP UNDERSTANDING, MENTALLY RECREATE THE WORK, CHALLENGE EVERY ASSUMPTION</a:t>
            </a:r>
          </a:p>
          <a:p>
            <a:pPr algn="l">
              <a:lnSpc>
                <a:spcPts val="6162"/>
              </a:lnSpc>
            </a:pPr>
            <a:endParaRPr lang="en-US" sz="4401" spc="198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/>
          <p:nvPr/>
        </p:nvSpPr>
        <p:spPr>
          <a:xfrm>
            <a:off x="332289" y="1777718"/>
            <a:ext cx="2967827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flipV="1">
            <a:off x="14991832" y="1768193"/>
            <a:ext cx="2951337" cy="1905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760079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7" y="0"/>
                </a:lnTo>
                <a:lnTo>
                  <a:pt x="4025467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" name="Group 9"/>
          <p:cNvGrpSpPr/>
          <p:nvPr/>
        </p:nvGrpSpPr>
        <p:grpSpPr>
          <a:xfrm>
            <a:off x="4669902" y="4701318"/>
            <a:ext cx="492598" cy="49259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LITERATURE SURVEY WORKFLOW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1294" y="4367810"/>
            <a:ext cx="2203036" cy="11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5"/>
              </a:lnSpc>
              <a:spcBef>
                <a:spcPct val="0"/>
              </a:spcBef>
            </a:pPr>
            <a:r>
              <a:rPr lang="en-US" sz="3175" spc="142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SEARCH 3-5 PAPERS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435A5-97D2-DA67-5252-D66B8864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B71F5A-5BB9-CA03-F5A1-9CF50E241023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1A176FA-0404-49F7-490E-F046B672EC76}"/>
              </a:ext>
            </a:extLst>
          </p:cNvPr>
          <p:cNvSpPr/>
          <p:nvPr/>
        </p:nvSpPr>
        <p:spPr>
          <a:xfrm>
            <a:off x="332289" y="1777718"/>
            <a:ext cx="2967827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660DA46-A593-CAD4-26F0-C52D6F814E41}"/>
              </a:ext>
            </a:extLst>
          </p:cNvPr>
          <p:cNvSpPr/>
          <p:nvPr/>
        </p:nvSpPr>
        <p:spPr>
          <a:xfrm flipV="1">
            <a:off x="14991832" y="1768193"/>
            <a:ext cx="2951337" cy="1905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A28A987-FB43-D748-F8FB-A57430C8B89F}"/>
              </a:ext>
            </a:extLst>
          </p:cNvPr>
          <p:cNvSpPr/>
          <p:nvPr/>
        </p:nvSpPr>
        <p:spPr>
          <a:xfrm>
            <a:off x="760079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7" y="0"/>
                </a:lnTo>
                <a:lnTo>
                  <a:pt x="4025467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CC74379-4971-C506-D1C2-B90C8C5086ED}"/>
              </a:ext>
            </a:extLst>
          </p:cNvPr>
          <p:cNvSpPr/>
          <p:nvPr/>
        </p:nvSpPr>
        <p:spPr>
          <a:xfrm>
            <a:off x="4916201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6" y="0"/>
                </a:lnTo>
                <a:lnTo>
                  <a:pt x="4025466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8A77D7A-1E8A-7522-331C-35F254D8E6E6}"/>
              </a:ext>
            </a:extLst>
          </p:cNvPr>
          <p:cNvGrpSpPr/>
          <p:nvPr/>
        </p:nvGrpSpPr>
        <p:grpSpPr>
          <a:xfrm>
            <a:off x="4669902" y="4701318"/>
            <a:ext cx="492598" cy="492598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CC746B9-C008-6D63-F537-9A6CC6A7D7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47BF694-D3A9-6C07-7BCD-43B2C1F0A9FF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EC531B7-D01C-87ED-BE40-BA43B2BD43BA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LITERATURE SURVEY WORKFLOW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4D50B60-FF4B-CAD8-7763-D3CD8989AB1A}"/>
              </a:ext>
            </a:extLst>
          </p:cNvPr>
          <p:cNvSpPr txBox="1"/>
          <p:nvPr/>
        </p:nvSpPr>
        <p:spPr>
          <a:xfrm>
            <a:off x="1671294" y="4367810"/>
            <a:ext cx="2203036" cy="11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5"/>
              </a:lnSpc>
              <a:spcBef>
                <a:spcPct val="0"/>
              </a:spcBef>
            </a:pPr>
            <a:r>
              <a:rPr lang="en-US" sz="3175" spc="142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SEARCH 3-5 PAPERS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B1D887C-C015-53DC-C777-8DF7006F4CB2}"/>
              </a:ext>
            </a:extLst>
          </p:cNvPr>
          <p:cNvSpPr txBox="1"/>
          <p:nvPr/>
        </p:nvSpPr>
        <p:spPr>
          <a:xfrm>
            <a:off x="5396494" y="4358285"/>
            <a:ext cx="3064880" cy="110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sz="3153" spc="141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LOOK FOR A SUMMARY PAPER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3F10170-E567-5CE3-F920-2E3800664FEB}"/>
              </a:ext>
            </a:extLst>
          </p:cNvPr>
          <p:cNvGrpSpPr/>
          <p:nvPr/>
        </p:nvGrpSpPr>
        <p:grpSpPr>
          <a:xfrm>
            <a:off x="8828718" y="4701318"/>
            <a:ext cx="492598" cy="492598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E56254E-B56D-14A2-CDE2-EE311DF17B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407B21A-571D-4855-64E9-006AC571F74A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1590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39839-9B88-2AD6-B873-A375B00E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F3E95E-CE3B-D392-D09A-519B1F7F2CEE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A34E175-4DFD-7302-BDE5-C0E67A738F4F}"/>
              </a:ext>
            </a:extLst>
          </p:cNvPr>
          <p:cNvSpPr/>
          <p:nvPr/>
        </p:nvSpPr>
        <p:spPr>
          <a:xfrm>
            <a:off x="332289" y="1777718"/>
            <a:ext cx="2967827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85F8DCD-FEA4-08B7-6B67-8595195E3A26}"/>
              </a:ext>
            </a:extLst>
          </p:cNvPr>
          <p:cNvSpPr/>
          <p:nvPr/>
        </p:nvSpPr>
        <p:spPr>
          <a:xfrm flipV="1">
            <a:off x="14991832" y="1768193"/>
            <a:ext cx="2951337" cy="1905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9F75C0B-C190-3CE4-00FE-5603E263E4AF}"/>
              </a:ext>
            </a:extLst>
          </p:cNvPr>
          <p:cNvSpPr/>
          <p:nvPr/>
        </p:nvSpPr>
        <p:spPr>
          <a:xfrm>
            <a:off x="760079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7" y="0"/>
                </a:lnTo>
                <a:lnTo>
                  <a:pt x="4025467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C17DD65-9FE1-C9EA-E44C-80E357BFEDA0}"/>
              </a:ext>
            </a:extLst>
          </p:cNvPr>
          <p:cNvSpPr/>
          <p:nvPr/>
        </p:nvSpPr>
        <p:spPr>
          <a:xfrm>
            <a:off x="4916201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6" y="0"/>
                </a:lnTo>
                <a:lnTo>
                  <a:pt x="4025466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4F581F9-3BE6-0EAD-8A11-7D99450D7A20}"/>
              </a:ext>
            </a:extLst>
          </p:cNvPr>
          <p:cNvSpPr/>
          <p:nvPr/>
        </p:nvSpPr>
        <p:spPr>
          <a:xfrm>
            <a:off x="9075017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7" y="0"/>
                </a:lnTo>
                <a:lnTo>
                  <a:pt x="4025467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D0C9A85-7114-3D4A-8D51-EA5DED8AA467}"/>
              </a:ext>
            </a:extLst>
          </p:cNvPr>
          <p:cNvGrpSpPr/>
          <p:nvPr/>
        </p:nvGrpSpPr>
        <p:grpSpPr>
          <a:xfrm>
            <a:off x="4669902" y="4701318"/>
            <a:ext cx="492598" cy="492598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EFA12F-D509-C5CA-9DBF-20B7BD50C68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839DEF9-2647-75C5-FDEB-2E2F2ADEA393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6D8F00B-593E-4DE1-9278-D99A0F048D78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LITERATURE SURVEY WORKFLOW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2E5D88B-3CAA-05E0-766E-BDA2A9A572C1}"/>
              </a:ext>
            </a:extLst>
          </p:cNvPr>
          <p:cNvSpPr txBox="1"/>
          <p:nvPr/>
        </p:nvSpPr>
        <p:spPr>
          <a:xfrm>
            <a:off x="1671294" y="4367810"/>
            <a:ext cx="2203036" cy="11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5"/>
              </a:lnSpc>
              <a:spcBef>
                <a:spcPct val="0"/>
              </a:spcBef>
            </a:pPr>
            <a:r>
              <a:rPr lang="en-US" sz="3175" spc="142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SEARCH 3-5 PAPERS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47EB3DA-9D70-63A0-A6FF-24FA9293FE3B}"/>
              </a:ext>
            </a:extLst>
          </p:cNvPr>
          <p:cNvSpPr txBox="1"/>
          <p:nvPr/>
        </p:nvSpPr>
        <p:spPr>
          <a:xfrm>
            <a:off x="5396494" y="4358285"/>
            <a:ext cx="3064880" cy="110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sz="3153" spc="141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LOOK FOR A SUMMARY PAPER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6382144-7057-3740-8801-2FE202E32746}"/>
              </a:ext>
            </a:extLst>
          </p:cNvPr>
          <p:cNvSpPr txBox="1"/>
          <p:nvPr/>
        </p:nvSpPr>
        <p:spPr>
          <a:xfrm>
            <a:off x="9408600" y="4416367"/>
            <a:ext cx="3358301" cy="99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1"/>
              </a:lnSpc>
              <a:spcBef>
                <a:spcPct val="0"/>
              </a:spcBef>
            </a:pPr>
            <a:r>
              <a:rPr lang="en-US" sz="2858" spc="128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IDENTIFY KEY AUTHORS IN REFERENCES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69C66C0-7537-2DBC-E8A2-13474CFD1F10}"/>
              </a:ext>
            </a:extLst>
          </p:cNvPr>
          <p:cNvGrpSpPr/>
          <p:nvPr/>
        </p:nvGrpSpPr>
        <p:grpSpPr>
          <a:xfrm>
            <a:off x="8828718" y="4701318"/>
            <a:ext cx="492598" cy="492598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7774E31-9941-68A9-2D7C-17EE630ABE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DD689FA-406B-ADDC-3C28-290A0CDBAAC0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2C11940-45F1-78D5-384A-32EAF67338A0}"/>
              </a:ext>
            </a:extLst>
          </p:cNvPr>
          <p:cNvGrpSpPr/>
          <p:nvPr/>
        </p:nvGrpSpPr>
        <p:grpSpPr>
          <a:xfrm>
            <a:off x="13005026" y="4701318"/>
            <a:ext cx="492598" cy="492598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6C314FD9-AFAA-C276-3271-E3DC2C9D91C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730C14F-D9C1-1E5F-7E79-9969FB6D77DA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0275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EF9FC-295B-25B8-12F5-19960D7A0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B91FED-FFCD-CF73-DC3F-22B536E1A38C}"/>
              </a:ext>
            </a:extLst>
          </p:cNvPr>
          <p:cNvSpPr/>
          <p:nvPr/>
        </p:nvSpPr>
        <p:spPr>
          <a:xfrm>
            <a:off x="15171007" y="6447125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479E1A-58FB-2B00-2E46-BB618794F773}"/>
              </a:ext>
            </a:extLst>
          </p:cNvPr>
          <p:cNvSpPr/>
          <p:nvPr/>
        </p:nvSpPr>
        <p:spPr>
          <a:xfrm>
            <a:off x="332289" y="1777718"/>
            <a:ext cx="2967827" cy="9525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0397E29-9120-F31C-0AA5-60D81EF51811}"/>
              </a:ext>
            </a:extLst>
          </p:cNvPr>
          <p:cNvSpPr/>
          <p:nvPr/>
        </p:nvSpPr>
        <p:spPr>
          <a:xfrm flipV="1">
            <a:off x="14991832" y="1768193"/>
            <a:ext cx="2951337" cy="19050"/>
          </a:xfrm>
          <a:prstGeom prst="line">
            <a:avLst/>
          </a:prstGeom>
          <a:ln w="19050" cap="rnd">
            <a:solidFill>
              <a:srgbClr val="F1EE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079995B-B132-4964-05E4-2AF94A7E2D89}"/>
              </a:ext>
            </a:extLst>
          </p:cNvPr>
          <p:cNvSpPr/>
          <p:nvPr/>
        </p:nvSpPr>
        <p:spPr>
          <a:xfrm>
            <a:off x="760079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7" y="0"/>
                </a:lnTo>
                <a:lnTo>
                  <a:pt x="4025467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06D891E-258D-2BBC-7FBF-7275C04E23E8}"/>
              </a:ext>
            </a:extLst>
          </p:cNvPr>
          <p:cNvSpPr/>
          <p:nvPr/>
        </p:nvSpPr>
        <p:spPr>
          <a:xfrm>
            <a:off x="4916201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6" y="0"/>
                </a:lnTo>
                <a:lnTo>
                  <a:pt x="4025466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2AEA551-4BFA-8724-6233-0B0BA8B13FB6}"/>
              </a:ext>
            </a:extLst>
          </p:cNvPr>
          <p:cNvSpPr/>
          <p:nvPr/>
        </p:nvSpPr>
        <p:spPr>
          <a:xfrm>
            <a:off x="9075017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7" y="0"/>
                </a:lnTo>
                <a:lnTo>
                  <a:pt x="4025467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68D0AB6-8EDD-1D64-FCAC-4BE27DF0254D}"/>
              </a:ext>
            </a:extLst>
          </p:cNvPr>
          <p:cNvSpPr/>
          <p:nvPr/>
        </p:nvSpPr>
        <p:spPr>
          <a:xfrm>
            <a:off x="13233834" y="4112333"/>
            <a:ext cx="4025466" cy="1670569"/>
          </a:xfrm>
          <a:custGeom>
            <a:avLst/>
            <a:gdLst/>
            <a:ahLst/>
            <a:cxnLst/>
            <a:rect l="l" t="t" r="r" b="b"/>
            <a:pathLst>
              <a:path w="4025466" h="1670569">
                <a:moveTo>
                  <a:pt x="0" y="0"/>
                </a:moveTo>
                <a:lnTo>
                  <a:pt x="4025466" y="0"/>
                </a:lnTo>
                <a:lnTo>
                  <a:pt x="4025466" y="1670569"/>
                </a:lnTo>
                <a:lnTo>
                  <a:pt x="0" y="1670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6AFED4F8-EE3E-EE9C-0360-CA3AB514DC81}"/>
              </a:ext>
            </a:extLst>
          </p:cNvPr>
          <p:cNvGrpSpPr/>
          <p:nvPr/>
        </p:nvGrpSpPr>
        <p:grpSpPr>
          <a:xfrm>
            <a:off x="4669902" y="4701318"/>
            <a:ext cx="492598" cy="492598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A25B6E8-311B-75CB-B408-CA6A73CEEA7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44CC321-6D79-9FCB-1EC3-4B36E4F70CF5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38043972-16FC-2049-0B2B-CC4A3BE81032}"/>
              </a:ext>
            </a:extLst>
          </p:cNvPr>
          <p:cNvSpPr txBox="1"/>
          <p:nvPr/>
        </p:nvSpPr>
        <p:spPr>
          <a:xfrm>
            <a:off x="3677230" y="1165753"/>
            <a:ext cx="10933541" cy="11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46"/>
              </a:lnSpc>
              <a:spcBef>
                <a:spcPct val="0"/>
              </a:spcBef>
            </a:pPr>
            <a:r>
              <a:rPr lang="en-US" sz="7343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LITERATURE SURVEY WORKFLOW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2728998-59D7-F851-EEDE-4E151DCEEA10}"/>
              </a:ext>
            </a:extLst>
          </p:cNvPr>
          <p:cNvSpPr txBox="1"/>
          <p:nvPr/>
        </p:nvSpPr>
        <p:spPr>
          <a:xfrm>
            <a:off x="1671294" y="4367810"/>
            <a:ext cx="2203036" cy="11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5"/>
              </a:lnSpc>
              <a:spcBef>
                <a:spcPct val="0"/>
              </a:spcBef>
            </a:pPr>
            <a:r>
              <a:rPr lang="en-US" sz="3175" spc="142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SEARCH 3-5 PAPERS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770BCF0-4CC2-E242-A547-3A5B2F29BBC3}"/>
              </a:ext>
            </a:extLst>
          </p:cNvPr>
          <p:cNvSpPr txBox="1"/>
          <p:nvPr/>
        </p:nvSpPr>
        <p:spPr>
          <a:xfrm>
            <a:off x="5396494" y="4358285"/>
            <a:ext cx="3064880" cy="110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sz="3153" spc="141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LOOK FOR A SUMMARY PAPER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55CA818-4A71-100F-C940-6C2E32CCE2A2}"/>
              </a:ext>
            </a:extLst>
          </p:cNvPr>
          <p:cNvSpPr txBox="1"/>
          <p:nvPr/>
        </p:nvSpPr>
        <p:spPr>
          <a:xfrm>
            <a:off x="9408600" y="4416367"/>
            <a:ext cx="3358301" cy="99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1"/>
              </a:lnSpc>
              <a:spcBef>
                <a:spcPct val="0"/>
              </a:spcBef>
            </a:pPr>
            <a:r>
              <a:rPr lang="en-US" sz="2858" spc="128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IDENTIFY KEY AUTHORS IN REFERENCES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73F6467-D1A1-88CC-1402-92190E645B9B}"/>
              </a:ext>
            </a:extLst>
          </p:cNvPr>
          <p:cNvSpPr txBox="1"/>
          <p:nvPr/>
        </p:nvSpPr>
        <p:spPr>
          <a:xfrm>
            <a:off x="13233834" y="4301287"/>
            <a:ext cx="4025466" cy="119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4"/>
              </a:lnSpc>
              <a:spcBef>
                <a:spcPct val="0"/>
              </a:spcBef>
            </a:pPr>
            <a:r>
              <a:rPr lang="en-US" sz="3263" spc="146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CHECK RECENT  CONFERENCES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CBE573C-EC92-147F-4199-3E280366C4A4}"/>
              </a:ext>
            </a:extLst>
          </p:cNvPr>
          <p:cNvGrpSpPr/>
          <p:nvPr/>
        </p:nvGrpSpPr>
        <p:grpSpPr>
          <a:xfrm>
            <a:off x="8828718" y="4701318"/>
            <a:ext cx="492598" cy="492598"/>
            <a:chOff x="0" y="0"/>
            <a:chExt cx="812800" cy="8128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8C9DDA6-8781-71A7-B1F3-5AD04C79C0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0E16B45-23D0-0DC9-66BB-28257704094F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F41BC898-41E4-0C91-E547-C1A81E2156FC}"/>
              </a:ext>
            </a:extLst>
          </p:cNvPr>
          <p:cNvGrpSpPr/>
          <p:nvPr/>
        </p:nvGrpSpPr>
        <p:grpSpPr>
          <a:xfrm>
            <a:off x="13005026" y="4701318"/>
            <a:ext cx="492598" cy="492598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5296A1AD-ABF3-EA87-87F6-06355916F5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E488B205-D143-C7E4-F225-4D4A92CF78CF}"/>
                </a:ext>
              </a:extLst>
            </p:cNvPr>
            <p:cNvSpPr txBox="1"/>
            <p:nvPr/>
          </p:nvSpPr>
          <p:spPr>
            <a:xfrm>
              <a:off x="0" y="184150"/>
              <a:ext cx="711200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86927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3495" y="4954850"/>
            <a:ext cx="17035933" cy="79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772" lvl="1" algn="l">
              <a:lnSpc>
                <a:spcPts val="5281"/>
              </a:lnSpc>
              <a:spcBef>
                <a:spcPct val="0"/>
              </a:spcBef>
            </a:pPr>
            <a:r>
              <a:rPr lang="en-US" sz="8001" spc="360" dirty="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3. PROJECTS PATH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2425" y="4432411"/>
            <a:ext cx="15166270" cy="1612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1530" lvl="1" indent="-405765" algn="l">
              <a:lnSpc>
                <a:spcPts val="2480"/>
              </a:lnSpc>
              <a:buFont typeface="Arial"/>
              <a:buChar char="•"/>
            </a:pPr>
            <a:r>
              <a:rPr lang="en-US" sz="3758" spc="16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PATH: BASIC (REPRODUCE 802.11E)</a:t>
            </a:r>
          </a:p>
          <a:p>
            <a:pPr algn="l">
              <a:lnSpc>
                <a:spcPts val="2480"/>
              </a:lnSpc>
            </a:pPr>
            <a:endParaRPr lang="en-US" sz="3758" spc="16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480"/>
              </a:lnSpc>
            </a:pPr>
            <a:endParaRPr lang="en-US" sz="3758" spc="16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  <a:p>
            <a:pPr marL="811530" lvl="1" indent="-405765" algn="l">
              <a:lnSpc>
                <a:spcPts val="2480"/>
              </a:lnSpc>
              <a:buFont typeface="Arial"/>
              <a:buChar char="•"/>
            </a:pPr>
            <a:r>
              <a:rPr lang="en-US" sz="3758" spc="169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Focus: Network Density</a:t>
            </a:r>
          </a:p>
          <a:p>
            <a:pPr algn="l">
              <a:lnSpc>
                <a:spcPts val="2480"/>
              </a:lnSpc>
            </a:pPr>
            <a:endParaRPr lang="en-US" sz="3758" spc="169">
              <a:solidFill>
                <a:srgbClr val="F1EEEB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89739" y="2895503"/>
            <a:ext cx="17035933" cy="45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4501" spc="202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WHAT HAPPENS TO NETWORK RULES WHEN TOO MANY DEVICES CONNECT?</a:t>
            </a:r>
          </a:p>
        </p:txBody>
      </p:sp>
      <p:sp>
        <p:nvSpPr>
          <p:cNvPr id="4" name="Freeform 4"/>
          <p:cNvSpPr/>
          <p:nvPr/>
        </p:nvSpPr>
        <p:spPr>
          <a:xfrm>
            <a:off x="14048299" y="6131187"/>
            <a:ext cx="6724974" cy="6254226"/>
          </a:xfrm>
          <a:custGeom>
            <a:avLst/>
            <a:gdLst/>
            <a:ahLst/>
            <a:cxnLst/>
            <a:rect l="l" t="t" r="r" b="b"/>
            <a:pathLst>
              <a:path w="6724974" h="6254226">
                <a:moveTo>
                  <a:pt x="0" y="0"/>
                </a:moveTo>
                <a:lnTo>
                  <a:pt x="6724974" y="0"/>
                </a:lnTo>
                <a:lnTo>
                  <a:pt x="6724974" y="6254226"/>
                </a:lnTo>
                <a:lnTo>
                  <a:pt x="0" y="6254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-663866" y="-1260324"/>
            <a:ext cx="2710373" cy="2520647"/>
          </a:xfrm>
          <a:custGeom>
            <a:avLst/>
            <a:gdLst/>
            <a:ahLst/>
            <a:cxnLst/>
            <a:rect l="l" t="t" r="r" b="b"/>
            <a:pathLst>
              <a:path w="2710373" h="2520647">
                <a:moveTo>
                  <a:pt x="0" y="0"/>
                </a:moveTo>
                <a:lnTo>
                  <a:pt x="2710373" y="0"/>
                </a:lnTo>
                <a:lnTo>
                  <a:pt x="2710373" y="2520648"/>
                </a:lnTo>
                <a:lnTo>
                  <a:pt x="0" y="2520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42809" y="4954850"/>
            <a:ext cx="17035933" cy="79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1"/>
              </a:lnSpc>
              <a:spcBef>
                <a:spcPct val="0"/>
              </a:spcBef>
            </a:pPr>
            <a:r>
              <a:rPr lang="en-US" sz="8001" spc="360">
                <a:solidFill>
                  <a:srgbClr val="F1EEEB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356</Words>
  <Application>Microsoft Macintosh PowerPoint</Application>
  <PresentationFormat>Custom</PresentationFormat>
  <Paragraphs>95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Big Shoulders Display Bold</vt:lpstr>
      <vt:lpstr>Calibri</vt:lpstr>
      <vt:lpstr>Anton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Marron Minimaliste Rapport de Stage Présentation</dc:title>
  <cp:lastModifiedBy>Pauline Laure Bereau</cp:lastModifiedBy>
  <cp:revision>3</cp:revision>
  <dcterms:created xsi:type="dcterms:W3CDTF">2006-08-16T00:00:00Z</dcterms:created>
  <dcterms:modified xsi:type="dcterms:W3CDTF">2026-09-19T06:27:17Z</dcterms:modified>
  <dc:identifier>DAHVb4oSBTU</dc:identifier>
</cp:coreProperties>
</file>