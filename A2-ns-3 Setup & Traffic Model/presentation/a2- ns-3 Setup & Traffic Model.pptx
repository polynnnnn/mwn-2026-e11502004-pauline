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8288000" cy="10287000"/>
  <p:notesSz cx="6858000" cy="9144000"/>
  <p:embeddedFontLst>
    <p:embeddedFont>
      <p:font typeface="Arial Unicode Bold" panose="020B0704020202020204" pitchFamily="34" charset="-128"/>
      <p:regular r:id="rId21"/>
      <p:bold r:id="rId22"/>
    </p:embeddedFont>
    <p:embeddedFont>
      <p:font typeface="Anton" pitchFamily="2" charset="77"/>
      <p:regular r:id="rId23"/>
    </p:embeddedFont>
    <p:embeddedFont>
      <p:font typeface="Arial Unicode" panose="020B0604020202020204" pitchFamily="34" charset="-128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52" autoAdjust="0"/>
    <p:restoredTop sz="94598" autoAdjust="0"/>
  </p:normalViewPr>
  <p:slideViewPr>
    <p:cSldViewPr>
      <p:cViewPr varScale="1">
        <p:scale>
          <a:sx n="79" d="100"/>
          <a:sy n="79" d="100"/>
        </p:scale>
        <p:origin x="264" y="2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1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70649" y="1145745"/>
            <a:ext cx="16814466" cy="5579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498"/>
              </a:lnSpc>
            </a:pPr>
            <a:r>
              <a:rPr lang="en-US" sz="21715" spc="-1064">
                <a:solidFill>
                  <a:srgbClr val="FEDEE1"/>
                </a:solidFill>
                <a:latin typeface="Anton"/>
                <a:ea typeface="Anton"/>
                <a:cs typeface="Anton"/>
                <a:sym typeface="Anton"/>
              </a:rPr>
              <a:t>MODELING XR TRAFFIC WITH NS-3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991935" y="8927127"/>
            <a:ext cx="5291729" cy="405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07"/>
              </a:lnSpc>
            </a:pPr>
            <a:r>
              <a:rPr lang="en-US" sz="2919" b="1" spc="116">
                <a:solidFill>
                  <a:srgbClr val="FFFFFF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PAULINE BEREAU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8927127"/>
            <a:ext cx="5291729" cy="405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7"/>
              </a:lnSpc>
            </a:pPr>
            <a:r>
              <a:rPr lang="en-US" sz="2919" spc="116">
                <a:solidFill>
                  <a:srgbClr val="FFFFFF"/>
                </a:solidFill>
                <a:latin typeface="Arial Unicode"/>
                <a:ea typeface="Arial Unicode"/>
                <a:cs typeface="Arial Unicode"/>
                <a:sym typeface="Arial Unicode"/>
              </a:rPr>
              <a:t>A2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1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91903" y="1069247"/>
            <a:ext cx="16367397" cy="2384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000"/>
              </a:lnSpc>
            </a:pPr>
            <a:r>
              <a:rPr lang="en-US" sz="20000" spc="-980">
                <a:solidFill>
                  <a:srgbClr val="FEDEE1"/>
                </a:solidFill>
                <a:latin typeface="Anton"/>
                <a:ea typeface="Anton"/>
                <a:cs typeface="Anton"/>
                <a:sym typeface="Anton"/>
              </a:rPr>
              <a:t>SUMMARY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617679" y="3929806"/>
            <a:ext cx="11314063" cy="3834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0427" lvl="1" indent="-315214" algn="l">
              <a:lnSpc>
                <a:spcPts val="3007"/>
              </a:lnSpc>
              <a:spcBef>
                <a:spcPct val="0"/>
              </a:spcBef>
              <a:buFont typeface="Arial"/>
              <a:buChar char="•"/>
            </a:pPr>
            <a:r>
              <a:rPr lang="en-US" sz="2919" b="1" spc="116">
                <a:solidFill>
                  <a:srgbClr val="FEDEE1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TASK 1 - INSTALLATION AND BUILD</a:t>
            </a:r>
          </a:p>
          <a:p>
            <a:pPr algn="l">
              <a:lnSpc>
                <a:spcPts val="3007"/>
              </a:lnSpc>
              <a:spcBef>
                <a:spcPct val="0"/>
              </a:spcBef>
            </a:pPr>
            <a:endParaRPr lang="en-US" sz="2919" b="1" spc="116">
              <a:solidFill>
                <a:srgbClr val="FEDEE1"/>
              </a:solidFill>
              <a:latin typeface="Arial Unicode Bold"/>
              <a:ea typeface="Arial Unicode Bold"/>
              <a:cs typeface="Arial Unicode Bold"/>
              <a:sym typeface="Arial Unicode Bold"/>
            </a:endParaRPr>
          </a:p>
          <a:p>
            <a:pPr marL="630427" lvl="1" indent="-315214" algn="l">
              <a:lnSpc>
                <a:spcPts val="3007"/>
              </a:lnSpc>
              <a:spcBef>
                <a:spcPct val="0"/>
              </a:spcBef>
              <a:buFont typeface="Arial"/>
              <a:buChar char="•"/>
            </a:pPr>
            <a:r>
              <a:rPr lang="en-US" sz="2919" b="1" spc="116">
                <a:solidFill>
                  <a:srgbClr val="FEDEE1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TASK 2 - THE 3GPP TR 26.926 STANDARD</a:t>
            </a:r>
          </a:p>
          <a:p>
            <a:pPr algn="l">
              <a:lnSpc>
                <a:spcPts val="3007"/>
              </a:lnSpc>
              <a:spcBef>
                <a:spcPct val="0"/>
              </a:spcBef>
            </a:pPr>
            <a:endParaRPr lang="en-US" sz="2919" b="1" spc="116">
              <a:solidFill>
                <a:srgbClr val="FEDEE1"/>
              </a:solidFill>
              <a:latin typeface="Arial Unicode Bold"/>
              <a:ea typeface="Arial Unicode Bold"/>
              <a:cs typeface="Arial Unicode Bold"/>
              <a:sym typeface="Arial Unicode Bold"/>
            </a:endParaRPr>
          </a:p>
          <a:p>
            <a:pPr marL="630427" lvl="1" indent="-315214" algn="l">
              <a:lnSpc>
                <a:spcPts val="3007"/>
              </a:lnSpc>
              <a:spcBef>
                <a:spcPct val="0"/>
              </a:spcBef>
              <a:buFont typeface="Arial"/>
              <a:buChar char="•"/>
            </a:pPr>
            <a:r>
              <a:rPr lang="en-US" sz="2919" b="1" spc="116">
                <a:solidFill>
                  <a:srgbClr val="FEDEE1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TASK 3 - PROOF OF EXECUTION (WIRESHARK)</a:t>
            </a:r>
          </a:p>
          <a:p>
            <a:pPr algn="l">
              <a:lnSpc>
                <a:spcPts val="3007"/>
              </a:lnSpc>
              <a:spcBef>
                <a:spcPct val="0"/>
              </a:spcBef>
            </a:pPr>
            <a:endParaRPr lang="en-US" sz="2919" b="1" spc="116">
              <a:solidFill>
                <a:srgbClr val="FEDEE1"/>
              </a:solidFill>
              <a:latin typeface="Arial Unicode Bold"/>
              <a:ea typeface="Arial Unicode Bold"/>
              <a:cs typeface="Arial Unicode Bold"/>
              <a:sym typeface="Arial Unicode Bold"/>
            </a:endParaRPr>
          </a:p>
          <a:p>
            <a:pPr marL="630427" lvl="1" indent="-315214" algn="l">
              <a:lnSpc>
                <a:spcPts val="3007"/>
              </a:lnSpc>
              <a:spcBef>
                <a:spcPct val="0"/>
              </a:spcBef>
              <a:buFont typeface="Arial"/>
              <a:buChar char="•"/>
            </a:pPr>
            <a:r>
              <a:rPr lang="en-US" sz="2919" b="1" spc="116">
                <a:solidFill>
                  <a:srgbClr val="FEDEE1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TASK 4.1 - TIMING VERIFICATION (MATH PROOF)</a:t>
            </a:r>
          </a:p>
          <a:p>
            <a:pPr algn="l">
              <a:lnSpc>
                <a:spcPts val="3007"/>
              </a:lnSpc>
              <a:spcBef>
                <a:spcPct val="0"/>
              </a:spcBef>
            </a:pPr>
            <a:endParaRPr lang="en-US" sz="2919" b="1" spc="116">
              <a:solidFill>
                <a:srgbClr val="FEDEE1"/>
              </a:solidFill>
              <a:latin typeface="Arial Unicode Bold"/>
              <a:ea typeface="Arial Unicode Bold"/>
              <a:cs typeface="Arial Unicode Bold"/>
              <a:sym typeface="Arial Unicode Bold"/>
            </a:endParaRPr>
          </a:p>
          <a:p>
            <a:pPr marL="630427" lvl="1" indent="-315214" algn="l">
              <a:lnSpc>
                <a:spcPts val="3007"/>
              </a:lnSpc>
              <a:spcBef>
                <a:spcPct val="0"/>
              </a:spcBef>
              <a:buFont typeface="Arial"/>
              <a:buChar char="•"/>
            </a:pPr>
            <a:r>
              <a:rPr lang="en-US" sz="2919" b="1" spc="116">
                <a:solidFill>
                  <a:srgbClr val="FEDEE1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TASK 4.2 - PACKET SIZE VERIFICATION (MATH PROOF)</a:t>
            </a:r>
          </a:p>
          <a:p>
            <a:pPr algn="l">
              <a:lnSpc>
                <a:spcPts val="3007"/>
              </a:lnSpc>
              <a:spcBef>
                <a:spcPct val="0"/>
              </a:spcBef>
            </a:pPr>
            <a:endParaRPr lang="en-US" sz="2919" b="1" spc="116">
              <a:solidFill>
                <a:srgbClr val="FEDEE1"/>
              </a:solidFill>
              <a:latin typeface="Arial Unicode Bold"/>
              <a:ea typeface="Arial Unicode Bold"/>
              <a:cs typeface="Arial Unicode Bold"/>
              <a:sym typeface="Arial Unicode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1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91903" y="973997"/>
            <a:ext cx="16367397" cy="2073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05"/>
              </a:lnSpc>
            </a:pPr>
            <a:r>
              <a:rPr lang="en-US" sz="17300" spc="-847">
                <a:solidFill>
                  <a:srgbClr val="FEDEE1"/>
                </a:solidFill>
                <a:latin typeface="Anton"/>
                <a:ea typeface="Anton"/>
                <a:cs typeface="Anton"/>
                <a:sym typeface="Anton"/>
              </a:rPr>
              <a:t>INSTALLATION &amp; BUILD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036158" y="3758972"/>
            <a:ext cx="14082194" cy="3834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7"/>
              </a:lnSpc>
              <a:spcBef>
                <a:spcPct val="0"/>
              </a:spcBef>
            </a:pPr>
            <a:r>
              <a:rPr lang="en-US" sz="2919" b="1" spc="116">
                <a:solidFill>
                  <a:srgbClr val="FEDEE1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SIMULATOR: NS-3 (VERSION 3.48)</a:t>
            </a:r>
          </a:p>
          <a:p>
            <a:pPr algn="l">
              <a:lnSpc>
                <a:spcPts val="3007"/>
              </a:lnSpc>
              <a:spcBef>
                <a:spcPct val="0"/>
              </a:spcBef>
            </a:pPr>
            <a:endParaRPr lang="en-US" sz="2919" b="1" spc="116">
              <a:solidFill>
                <a:srgbClr val="FEDEE1"/>
              </a:solidFill>
              <a:latin typeface="Arial Unicode Bold"/>
              <a:ea typeface="Arial Unicode Bold"/>
              <a:cs typeface="Arial Unicode Bold"/>
              <a:sym typeface="Arial Unicode Bold"/>
            </a:endParaRPr>
          </a:p>
          <a:p>
            <a:pPr algn="l">
              <a:lnSpc>
                <a:spcPts val="3007"/>
              </a:lnSpc>
              <a:spcBef>
                <a:spcPct val="0"/>
              </a:spcBef>
            </a:pPr>
            <a:r>
              <a:rPr lang="en-US" sz="2919" b="1" spc="116">
                <a:solidFill>
                  <a:srgbClr val="FEDEE1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PLATFORM: MACOS </a:t>
            </a:r>
          </a:p>
          <a:p>
            <a:pPr algn="l">
              <a:lnSpc>
                <a:spcPts val="3007"/>
              </a:lnSpc>
              <a:spcBef>
                <a:spcPct val="0"/>
              </a:spcBef>
            </a:pPr>
            <a:endParaRPr lang="en-US" sz="2919" b="1" spc="116">
              <a:solidFill>
                <a:srgbClr val="FEDEE1"/>
              </a:solidFill>
              <a:latin typeface="Arial Unicode Bold"/>
              <a:ea typeface="Arial Unicode Bold"/>
              <a:cs typeface="Arial Unicode Bold"/>
              <a:sym typeface="Arial Unicode Bold"/>
            </a:endParaRPr>
          </a:p>
          <a:p>
            <a:pPr algn="l">
              <a:lnSpc>
                <a:spcPts val="3007"/>
              </a:lnSpc>
              <a:spcBef>
                <a:spcPct val="0"/>
              </a:spcBef>
            </a:pPr>
            <a:r>
              <a:rPr lang="en-US" sz="2919" b="1" spc="116">
                <a:solidFill>
                  <a:srgbClr val="FEDEE1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CHALLENGES OVERCOME:</a:t>
            </a:r>
          </a:p>
          <a:p>
            <a:pPr algn="l">
              <a:lnSpc>
                <a:spcPts val="3007"/>
              </a:lnSpc>
              <a:spcBef>
                <a:spcPct val="0"/>
              </a:spcBef>
            </a:pPr>
            <a:endParaRPr lang="en-US" sz="2919" b="1" spc="116">
              <a:solidFill>
                <a:srgbClr val="FEDEE1"/>
              </a:solidFill>
              <a:latin typeface="Arial Unicode Bold"/>
              <a:ea typeface="Arial Unicode Bold"/>
              <a:cs typeface="Arial Unicode Bold"/>
              <a:sym typeface="Arial Unicode Bold"/>
            </a:endParaRPr>
          </a:p>
          <a:p>
            <a:pPr marL="630427" lvl="1" indent="-315214" algn="l">
              <a:lnSpc>
                <a:spcPts val="3007"/>
              </a:lnSpc>
              <a:spcBef>
                <a:spcPct val="0"/>
              </a:spcBef>
              <a:buFont typeface="Arial"/>
              <a:buChar char="•"/>
            </a:pPr>
            <a:r>
              <a:rPr lang="en-US" sz="2919" b="1" spc="116">
                <a:solidFill>
                  <a:srgbClr val="FEDEE1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HOMEBREW MISSING SCRATCH/ DIRECTORY -&gt; BUILT MANUALLY FROM SOURCE</a:t>
            </a:r>
          </a:p>
          <a:p>
            <a:pPr algn="l">
              <a:lnSpc>
                <a:spcPts val="3007"/>
              </a:lnSpc>
              <a:spcBef>
                <a:spcPct val="0"/>
              </a:spcBef>
            </a:pPr>
            <a:endParaRPr lang="en-US" sz="2919" b="1" spc="116">
              <a:solidFill>
                <a:srgbClr val="FEDEE1"/>
              </a:solidFill>
              <a:latin typeface="Arial Unicode Bold"/>
              <a:ea typeface="Arial Unicode Bold"/>
              <a:cs typeface="Arial Unicode Bold"/>
              <a:sym typeface="Arial Unicode Bold"/>
            </a:endParaRPr>
          </a:p>
          <a:p>
            <a:pPr marL="630427" lvl="1" indent="-315214" algn="l">
              <a:lnSpc>
                <a:spcPts val="3007"/>
              </a:lnSpc>
              <a:spcBef>
                <a:spcPct val="0"/>
              </a:spcBef>
              <a:buFont typeface="Arial"/>
              <a:buChar char="•"/>
            </a:pPr>
            <a:r>
              <a:rPr lang="en-US" sz="2919" b="1" spc="116">
                <a:solidFill>
                  <a:srgbClr val="FEDEE1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API DEPRECATION -&gt; REPLACED INSTALL() WITH ASSIGN() FOR IPV4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1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91903" y="831122"/>
            <a:ext cx="16367397" cy="1493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11"/>
              </a:lnSpc>
            </a:pPr>
            <a:r>
              <a:rPr lang="en-US" sz="12601" spc="-617">
                <a:solidFill>
                  <a:srgbClr val="FEDEE1"/>
                </a:solidFill>
                <a:latin typeface="Anton"/>
                <a:ea typeface="Anton"/>
                <a:cs typeface="Anton"/>
                <a:sym typeface="Anton"/>
              </a:rPr>
              <a:t>THE 3GPP TR 26.926 STANDARD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1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91903" y="831122"/>
            <a:ext cx="16367397" cy="1493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11"/>
              </a:lnSpc>
            </a:pPr>
            <a:r>
              <a:rPr lang="en-US" sz="12601" spc="-617">
                <a:solidFill>
                  <a:srgbClr val="FEDEE1"/>
                </a:solidFill>
                <a:latin typeface="Anton"/>
                <a:ea typeface="Anton"/>
                <a:cs typeface="Anton"/>
                <a:sym typeface="Anton"/>
              </a:rPr>
              <a:t>THE 3GPP TR 26.926 STANDARD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036158" y="3758972"/>
            <a:ext cx="14082194" cy="1167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0427" lvl="1" indent="-315214" algn="l">
              <a:lnSpc>
                <a:spcPts val="3007"/>
              </a:lnSpc>
              <a:spcBef>
                <a:spcPct val="0"/>
              </a:spcBef>
              <a:buFont typeface="Arial"/>
              <a:buChar char="•"/>
            </a:pPr>
            <a:r>
              <a:rPr lang="en-US" sz="2919" b="1" spc="116">
                <a:solidFill>
                  <a:srgbClr val="FEDEE1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STANDARD: 3GPP TR 26.926 (XR TRAFFIC MODEL)</a:t>
            </a:r>
          </a:p>
          <a:p>
            <a:pPr algn="l">
              <a:lnSpc>
                <a:spcPts val="3007"/>
              </a:lnSpc>
              <a:spcBef>
                <a:spcPct val="0"/>
              </a:spcBef>
            </a:pPr>
            <a:endParaRPr lang="en-US" sz="2919" b="1" spc="116">
              <a:solidFill>
                <a:srgbClr val="FEDEE1"/>
              </a:solidFill>
              <a:latin typeface="Arial Unicode Bold"/>
              <a:ea typeface="Arial Unicode Bold"/>
              <a:cs typeface="Arial Unicode Bold"/>
              <a:sym typeface="Arial Unicode Bold"/>
            </a:endParaRPr>
          </a:p>
          <a:p>
            <a:pPr algn="l">
              <a:lnSpc>
                <a:spcPts val="3007"/>
              </a:lnSpc>
              <a:spcBef>
                <a:spcPct val="0"/>
              </a:spcBef>
            </a:pPr>
            <a:endParaRPr lang="en-US" sz="2919" b="1" spc="116">
              <a:solidFill>
                <a:srgbClr val="FEDEE1"/>
              </a:solidFill>
              <a:latin typeface="Arial Unicode Bold"/>
              <a:ea typeface="Arial Unicode Bold"/>
              <a:cs typeface="Arial Unicode Bold"/>
              <a:sym typeface="Arial Unicode 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1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91903" y="831122"/>
            <a:ext cx="16367397" cy="1493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11"/>
              </a:lnSpc>
            </a:pPr>
            <a:r>
              <a:rPr lang="en-US" sz="12601" spc="-617">
                <a:solidFill>
                  <a:srgbClr val="FEDEE1"/>
                </a:solidFill>
                <a:latin typeface="Anton"/>
                <a:ea typeface="Anton"/>
                <a:cs typeface="Anton"/>
                <a:sym typeface="Anton"/>
              </a:rPr>
              <a:t>THE 3GPP TR 26.926 STANDARD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036158" y="3758972"/>
            <a:ext cx="14082194" cy="2310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0427" lvl="1" indent="-315214" algn="l">
              <a:lnSpc>
                <a:spcPts val="3007"/>
              </a:lnSpc>
              <a:spcBef>
                <a:spcPct val="0"/>
              </a:spcBef>
              <a:buFont typeface="Arial"/>
              <a:buChar char="•"/>
            </a:pPr>
            <a:r>
              <a:rPr lang="en-US" sz="2919" b="1" spc="116">
                <a:solidFill>
                  <a:srgbClr val="FEDEE1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STANDARD: 3GPP TR 26.926 (XR TRAFFIC MODEL)</a:t>
            </a:r>
          </a:p>
          <a:p>
            <a:pPr algn="l">
              <a:lnSpc>
                <a:spcPts val="3007"/>
              </a:lnSpc>
              <a:spcBef>
                <a:spcPct val="0"/>
              </a:spcBef>
            </a:pPr>
            <a:endParaRPr lang="en-US" sz="2919" b="1" spc="116">
              <a:solidFill>
                <a:srgbClr val="FEDEE1"/>
              </a:solidFill>
              <a:latin typeface="Arial Unicode Bold"/>
              <a:ea typeface="Arial Unicode Bold"/>
              <a:cs typeface="Arial Unicode Bold"/>
              <a:sym typeface="Arial Unicode Bold"/>
            </a:endParaRPr>
          </a:p>
          <a:p>
            <a:pPr marL="630427" lvl="1" indent="-315214" algn="l">
              <a:lnSpc>
                <a:spcPts val="3007"/>
              </a:lnSpc>
              <a:spcBef>
                <a:spcPct val="0"/>
              </a:spcBef>
              <a:buFont typeface="Arial"/>
              <a:buChar char="•"/>
            </a:pPr>
            <a:r>
              <a:rPr lang="en-US" sz="2919" b="1" spc="116">
                <a:solidFill>
                  <a:srgbClr val="FEDEE1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RULE 1 - CONSTANT INTER-ARRIVAL TIME: 16 MS INTERVALS (TO GUARANTEE 60 FPS)</a:t>
            </a:r>
          </a:p>
          <a:p>
            <a:pPr algn="l">
              <a:lnSpc>
                <a:spcPts val="3007"/>
              </a:lnSpc>
              <a:spcBef>
                <a:spcPct val="0"/>
              </a:spcBef>
            </a:pPr>
            <a:endParaRPr lang="en-US" sz="2919" b="1" spc="116">
              <a:solidFill>
                <a:srgbClr val="FEDEE1"/>
              </a:solidFill>
              <a:latin typeface="Arial Unicode Bold"/>
              <a:ea typeface="Arial Unicode Bold"/>
              <a:cs typeface="Arial Unicode Bold"/>
              <a:sym typeface="Arial Unicode Bold"/>
            </a:endParaRPr>
          </a:p>
          <a:p>
            <a:pPr algn="l">
              <a:lnSpc>
                <a:spcPts val="3007"/>
              </a:lnSpc>
              <a:spcBef>
                <a:spcPct val="0"/>
              </a:spcBef>
            </a:pPr>
            <a:endParaRPr lang="en-US" sz="2919" b="1" spc="116">
              <a:solidFill>
                <a:srgbClr val="FEDEE1"/>
              </a:solidFill>
              <a:latin typeface="Arial Unicode Bold"/>
              <a:ea typeface="Arial Unicode Bold"/>
              <a:cs typeface="Arial Unicode Bold"/>
              <a:sym typeface="Arial Unicode 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1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91903" y="831122"/>
            <a:ext cx="16367397" cy="1493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11"/>
              </a:lnSpc>
            </a:pPr>
            <a:r>
              <a:rPr lang="en-US" sz="12601" spc="-617">
                <a:solidFill>
                  <a:srgbClr val="FEDEE1"/>
                </a:solidFill>
                <a:latin typeface="Anton"/>
                <a:ea typeface="Anton"/>
                <a:cs typeface="Anton"/>
                <a:sym typeface="Anton"/>
              </a:rPr>
              <a:t>THE 3GPP TR 26.926 STANDARD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036158" y="3758972"/>
            <a:ext cx="14082194" cy="3072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0427" lvl="1" indent="-315214" algn="l">
              <a:lnSpc>
                <a:spcPts val="3007"/>
              </a:lnSpc>
              <a:spcBef>
                <a:spcPct val="0"/>
              </a:spcBef>
              <a:buFont typeface="Arial"/>
              <a:buChar char="•"/>
            </a:pPr>
            <a:r>
              <a:rPr lang="en-US" sz="2919" b="1" spc="116">
                <a:solidFill>
                  <a:srgbClr val="FEDEE1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STANDARD: 3GPP TR 26.926 (XR TRAFFIC MODEL)</a:t>
            </a:r>
          </a:p>
          <a:p>
            <a:pPr algn="l">
              <a:lnSpc>
                <a:spcPts val="3007"/>
              </a:lnSpc>
              <a:spcBef>
                <a:spcPct val="0"/>
              </a:spcBef>
            </a:pPr>
            <a:endParaRPr lang="en-US" sz="2919" b="1" spc="116">
              <a:solidFill>
                <a:srgbClr val="FEDEE1"/>
              </a:solidFill>
              <a:latin typeface="Arial Unicode Bold"/>
              <a:ea typeface="Arial Unicode Bold"/>
              <a:cs typeface="Arial Unicode Bold"/>
              <a:sym typeface="Arial Unicode Bold"/>
            </a:endParaRPr>
          </a:p>
          <a:p>
            <a:pPr marL="630427" lvl="1" indent="-315214" algn="l">
              <a:lnSpc>
                <a:spcPts val="3007"/>
              </a:lnSpc>
              <a:spcBef>
                <a:spcPct val="0"/>
              </a:spcBef>
              <a:buFont typeface="Arial"/>
              <a:buChar char="•"/>
            </a:pPr>
            <a:r>
              <a:rPr lang="en-US" sz="2919" b="1" spc="116">
                <a:solidFill>
                  <a:srgbClr val="FEDEE1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RULE 1 - CONSTANT INTER-ARRIVAL TIME: 16 MS INTERVALS (TO GUARANTEE 60 FPS)</a:t>
            </a:r>
          </a:p>
          <a:p>
            <a:pPr algn="l">
              <a:lnSpc>
                <a:spcPts val="3007"/>
              </a:lnSpc>
              <a:spcBef>
                <a:spcPct val="0"/>
              </a:spcBef>
            </a:pPr>
            <a:endParaRPr lang="en-US" sz="2919" b="1" spc="116">
              <a:solidFill>
                <a:srgbClr val="FEDEE1"/>
              </a:solidFill>
              <a:latin typeface="Arial Unicode Bold"/>
              <a:ea typeface="Arial Unicode Bold"/>
              <a:cs typeface="Arial Unicode Bold"/>
              <a:sym typeface="Arial Unicode Bold"/>
            </a:endParaRPr>
          </a:p>
          <a:p>
            <a:pPr marL="630427" lvl="1" indent="-315214" algn="l">
              <a:lnSpc>
                <a:spcPts val="3007"/>
              </a:lnSpc>
              <a:spcBef>
                <a:spcPct val="0"/>
              </a:spcBef>
              <a:buFont typeface="Arial"/>
              <a:buChar char="•"/>
            </a:pPr>
            <a:r>
              <a:rPr lang="en-US" sz="2919" b="1" spc="116">
                <a:solidFill>
                  <a:srgbClr val="FEDEE1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RULE 2 - VARIABLE FRAME SIZE: MODELED AS A TRUNCATED GAUSSIAN DISTRIBUTION</a:t>
            </a:r>
          </a:p>
          <a:p>
            <a:pPr algn="l">
              <a:lnSpc>
                <a:spcPts val="3007"/>
              </a:lnSpc>
              <a:spcBef>
                <a:spcPct val="0"/>
              </a:spcBef>
            </a:pPr>
            <a:endParaRPr lang="en-US" sz="2919" b="1" spc="116">
              <a:solidFill>
                <a:srgbClr val="FEDEE1"/>
              </a:solidFill>
              <a:latin typeface="Arial Unicode Bold"/>
              <a:ea typeface="Arial Unicode Bold"/>
              <a:cs typeface="Arial Unicode Bold"/>
              <a:sym typeface="Arial Unicode 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1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91903" y="831122"/>
            <a:ext cx="16367397" cy="1493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11"/>
              </a:lnSpc>
            </a:pPr>
            <a:r>
              <a:rPr lang="en-US" sz="12601" spc="-617">
                <a:solidFill>
                  <a:srgbClr val="FEDEE1"/>
                </a:solidFill>
                <a:latin typeface="Anton"/>
                <a:ea typeface="Anton"/>
                <a:cs typeface="Anton"/>
                <a:sym typeface="Anton"/>
              </a:rPr>
              <a:t>THE 3GPP TR 26.926 STANDARD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1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91903" y="831122"/>
            <a:ext cx="16367397" cy="1493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11"/>
              </a:lnSpc>
            </a:pPr>
            <a:r>
              <a:rPr lang="en-US" sz="12601" spc="-617">
                <a:solidFill>
                  <a:srgbClr val="FEDEE1"/>
                </a:solidFill>
                <a:latin typeface="Anton"/>
                <a:ea typeface="Anton"/>
                <a:cs typeface="Anton"/>
                <a:sym typeface="Anton"/>
              </a:rPr>
              <a:t>THE 3GPP TR 26.926 STANDARD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036158" y="3758972"/>
            <a:ext cx="14082194" cy="1548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0427" lvl="1" indent="-315214" algn="l">
              <a:lnSpc>
                <a:spcPts val="3007"/>
              </a:lnSpc>
              <a:spcBef>
                <a:spcPct val="0"/>
              </a:spcBef>
              <a:buFont typeface="Arial"/>
              <a:buChar char="•"/>
            </a:pPr>
            <a:r>
              <a:rPr lang="en-US" sz="2919" b="1" spc="116">
                <a:solidFill>
                  <a:srgbClr val="FEDEE1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GENERATED CUSTOM C++ SCRIPT USING AI</a:t>
            </a:r>
          </a:p>
          <a:p>
            <a:pPr algn="l">
              <a:lnSpc>
                <a:spcPts val="3007"/>
              </a:lnSpc>
              <a:spcBef>
                <a:spcPct val="0"/>
              </a:spcBef>
            </a:pPr>
            <a:endParaRPr lang="en-US" sz="2919" b="1" spc="116">
              <a:solidFill>
                <a:srgbClr val="FEDEE1"/>
              </a:solidFill>
              <a:latin typeface="Arial Unicode Bold"/>
              <a:ea typeface="Arial Unicode Bold"/>
              <a:cs typeface="Arial Unicode Bold"/>
              <a:sym typeface="Arial Unicode Bold"/>
            </a:endParaRPr>
          </a:p>
          <a:p>
            <a:pPr algn="l">
              <a:lnSpc>
                <a:spcPts val="3007"/>
              </a:lnSpc>
              <a:spcBef>
                <a:spcPct val="0"/>
              </a:spcBef>
            </a:pPr>
            <a:endParaRPr lang="en-US" sz="2919" b="1" spc="116">
              <a:solidFill>
                <a:srgbClr val="FEDEE1"/>
              </a:solidFill>
              <a:latin typeface="Arial Unicode Bold"/>
              <a:ea typeface="Arial Unicode Bold"/>
              <a:cs typeface="Arial Unicode Bold"/>
              <a:sym typeface="Arial Unicode Bold"/>
            </a:endParaRPr>
          </a:p>
          <a:p>
            <a:pPr algn="l">
              <a:lnSpc>
                <a:spcPts val="3007"/>
              </a:lnSpc>
              <a:spcBef>
                <a:spcPct val="0"/>
              </a:spcBef>
            </a:pPr>
            <a:endParaRPr lang="en-US" sz="2919" b="1" spc="116">
              <a:solidFill>
                <a:srgbClr val="FEDEE1"/>
              </a:solidFill>
              <a:latin typeface="Arial Unicode Bold"/>
              <a:ea typeface="Arial Unicode Bold"/>
              <a:cs typeface="Arial Unicode Bold"/>
              <a:sym typeface="Arial Unicode 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1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91903" y="831122"/>
            <a:ext cx="16367397" cy="1493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11"/>
              </a:lnSpc>
            </a:pPr>
            <a:r>
              <a:rPr lang="en-US" sz="12601" spc="-617">
                <a:solidFill>
                  <a:srgbClr val="FEDEE1"/>
                </a:solidFill>
                <a:latin typeface="Anton"/>
                <a:ea typeface="Anton"/>
                <a:cs typeface="Anton"/>
                <a:sym typeface="Anton"/>
              </a:rPr>
              <a:t>THE 3GPP TR 26.926 STANDARD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036158" y="3758972"/>
            <a:ext cx="14082194" cy="2691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0427" lvl="1" indent="-315214" algn="l">
              <a:lnSpc>
                <a:spcPts val="3007"/>
              </a:lnSpc>
              <a:spcBef>
                <a:spcPct val="0"/>
              </a:spcBef>
              <a:buFont typeface="Arial"/>
              <a:buChar char="•"/>
            </a:pPr>
            <a:r>
              <a:rPr lang="en-US" sz="2919" b="1" spc="116">
                <a:solidFill>
                  <a:srgbClr val="FEDEE1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GENERATED CUSTOM C++ SCRIPT USING AI</a:t>
            </a:r>
          </a:p>
          <a:p>
            <a:pPr algn="l">
              <a:lnSpc>
                <a:spcPts val="3007"/>
              </a:lnSpc>
              <a:spcBef>
                <a:spcPct val="0"/>
              </a:spcBef>
            </a:pPr>
            <a:endParaRPr lang="en-US" sz="2919" b="1" spc="116">
              <a:solidFill>
                <a:srgbClr val="FEDEE1"/>
              </a:solidFill>
              <a:latin typeface="Arial Unicode Bold"/>
              <a:ea typeface="Arial Unicode Bold"/>
              <a:cs typeface="Arial Unicode Bold"/>
              <a:sym typeface="Arial Unicode Bold"/>
            </a:endParaRPr>
          </a:p>
          <a:p>
            <a:pPr marL="630427" lvl="1" indent="-315214" algn="l">
              <a:lnSpc>
                <a:spcPts val="3007"/>
              </a:lnSpc>
              <a:spcBef>
                <a:spcPct val="0"/>
              </a:spcBef>
              <a:buFont typeface="Arial"/>
              <a:buChar char="•"/>
            </a:pPr>
            <a:r>
              <a:rPr lang="en-US" sz="2919" b="1" spc="116">
                <a:solidFill>
                  <a:srgbClr val="FEDEE1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DATA GENERATION: CALCULATED VARIABLE FRAME SIZES DYNAMICALLY</a:t>
            </a:r>
          </a:p>
          <a:p>
            <a:pPr algn="l">
              <a:lnSpc>
                <a:spcPts val="3007"/>
              </a:lnSpc>
              <a:spcBef>
                <a:spcPct val="0"/>
              </a:spcBef>
            </a:pPr>
            <a:endParaRPr lang="en-US" sz="2919" b="1" spc="116">
              <a:solidFill>
                <a:srgbClr val="FEDEE1"/>
              </a:solidFill>
              <a:latin typeface="Arial Unicode Bold"/>
              <a:ea typeface="Arial Unicode Bold"/>
              <a:cs typeface="Arial Unicode Bold"/>
              <a:sym typeface="Arial Unicode Bold"/>
            </a:endParaRPr>
          </a:p>
          <a:p>
            <a:pPr algn="l">
              <a:lnSpc>
                <a:spcPts val="3007"/>
              </a:lnSpc>
              <a:spcBef>
                <a:spcPct val="0"/>
              </a:spcBef>
            </a:pPr>
            <a:endParaRPr lang="en-US" sz="2919" b="1" spc="116">
              <a:solidFill>
                <a:srgbClr val="FEDEE1"/>
              </a:solidFill>
              <a:latin typeface="Arial Unicode Bold"/>
              <a:ea typeface="Arial Unicode Bold"/>
              <a:cs typeface="Arial Unicode Bold"/>
              <a:sym typeface="Arial Unicode Bold"/>
            </a:endParaRPr>
          </a:p>
          <a:p>
            <a:pPr algn="l">
              <a:lnSpc>
                <a:spcPts val="3007"/>
              </a:lnSpc>
              <a:spcBef>
                <a:spcPct val="0"/>
              </a:spcBef>
            </a:pPr>
            <a:endParaRPr lang="en-US" sz="2919" b="1" spc="116">
              <a:solidFill>
                <a:srgbClr val="FEDEE1"/>
              </a:solidFill>
              <a:latin typeface="Arial Unicode Bold"/>
              <a:ea typeface="Arial Unicode Bold"/>
              <a:cs typeface="Arial Unicode Bold"/>
              <a:sym typeface="Arial Unicode 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1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91903" y="831122"/>
            <a:ext cx="16367397" cy="1493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11"/>
              </a:lnSpc>
            </a:pPr>
            <a:r>
              <a:rPr lang="en-US" sz="12601" spc="-617">
                <a:solidFill>
                  <a:srgbClr val="FEDEE1"/>
                </a:solidFill>
                <a:latin typeface="Anton"/>
                <a:ea typeface="Anton"/>
                <a:cs typeface="Anton"/>
                <a:sym typeface="Anton"/>
              </a:rPr>
              <a:t>THE 3GPP TR 26.926 STANDARD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036158" y="3758972"/>
            <a:ext cx="14082194" cy="3072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0427" lvl="1" indent="-315214" algn="l">
              <a:lnSpc>
                <a:spcPts val="3007"/>
              </a:lnSpc>
              <a:spcBef>
                <a:spcPct val="0"/>
              </a:spcBef>
              <a:buFont typeface="Arial"/>
              <a:buChar char="•"/>
            </a:pPr>
            <a:r>
              <a:rPr lang="en-US" sz="2919" b="1" spc="116">
                <a:solidFill>
                  <a:srgbClr val="FEDEE1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GENERATED CUSTOM C++ SCRIPT USING AI</a:t>
            </a:r>
          </a:p>
          <a:p>
            <a:pPr algn="l">
              <a:lnSpc>
                <a:spcPts val="3007"/>
              </a:lnSpc>
              <a:spcBef>
                <a:spcPct val="0"/>
              </a:spcBef>
            </a:pPr>
            <a:endParaRPr lang="en-US" sz="2919" b="1" spc="116">
              <a:solidFill>
                <a:srgbClr val="FEDEE1"/>
              </a:solidFill>
              <a:latin typeface="Arial Unicode Bold"/>
              <a:ea typeface="Arial Unicode Bold"/>
              <a:cs typeface="Arial Unicode Bold"/>
              <a:sym typeface="Arial Unicode Bold"/>
            </a:endParaRPr>
          </a:p>
          <a:p>
            <a:pPr marL="630427" lvl="1" indent="-315214" algn="l">
              <a:lnSpc>
                <a:spcPts val="3007"/>
              </a:lnSpc>
              <a:spcBef>
                <a:spcPct val="0"/>
              </a:spcBef>
              <a:buFont typeface="Arial"/>
              <a:buChar char="•"/>
            </a:pPr>
            <a:r>
              <a:rPr lang="en-US" sz="2919" b="1" spc="116">
                <a:solidFill>
                  <a:srgbClr val="FEDEE1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DATA GENERATION: CALCULATED VARIABLE FRAME SIZES DYNAMICALLY</a:t>
            </a:r>
          </a:p>
          <a:p>
            <a:pPr algn="l">
              <a:lnSpc>
                <a:spcPts val="3007"/>
              </a:lnSpc>
              <a:spcBef>
                <a:spcPct val="0"/>
              </a:spcBef>
            </a:pPr>
            <a:endParaRPr lang="en-US" sz="2919" b="1" spc="116">
              <a:solidFill>
                <a:srgbClr val="FEDEE1"/>
              </a:solidFill>
              <a:latin typeface="Arial Unicode Bold"/>
              <a:ea typeface="Arial Unicode Bold"/>
              <a:cs typeface="Arial Unicode Bold"/>
              <a:sym typeface="Arial Unicode Bold"/>
            </a:endParaRPr>
          </a:p>
          <a:p>
            <a:pPr marL="630427" lvl="1" indent="-315214" algn="l">
              <a:lnSpc>
                <a:spcPts val="3007"/>
              </a:lnSpc>
              <a:spcBef>
                <a:spcPct val="0"/>
              </a:spcBef>
              <a:buFont typeface="Arial"/>
              <a:buChar char="•"/>
            </a:pPr>
            <a:r>
              <a:rPr lang="en-US" sz="2919" b="1" spc="116">
                <a:solidFill>
                  <a:srgbClr val="FEDEE1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FRAGMENTATION: SPLIT LARGE FRAMES INTO PACKETS (~1400 BYTES)</a:t>
            </a:r>
          </a:p>
          <a:p>
            <a:pPr algn="l">
              <a:lnSpc>
                <a:spcPts val="3007"/>
              </a:lnSpc>
              <a:spcBef>
                <a:spcPct val="0"/>
              </a:spcBef>
            </a:pPr>
            <a:endParaRPr lang="en-US" sz="2919" b="1" spc="116">
              <a:solidFill>
                <a:srgbClr val="FEDEE1"/>
              </a:solidFill>
              <a:latin typeface="Arial Unicode Bold"/>
              <a:ea typeface="Arial Unicode Bold"/>
              <a:cs typeface="Arial Unicode Bold"/>
              <a:sym typeface="Arial Unicode Bo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1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91903" y="802547"/>
            <a:ext cx="16367397" cy="1438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01"/>
              </a:lnSpc>
            </a:pPr>
            <a:r>
              <a:rPr lang="en-US" sz="12002" spc="-588">
                <a:solidFill>
                  <a:srgbClr val="FEDEE1"/>
                </a:solidFill>
                <a:latin typeface="Anton"/>
                <a:ea typeface="Anton"/>
                <a:cs typeface="Anton"/>
                <a:sym typeface="Anton"/>
              </a:rPr>
              <a:t>THE 3GPP TR 26.926 GENERATION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036158" y="3758972"/>
            <a:ext cx="14082194" cy="3834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0427" lvl="1" indent="-315214" algn="l">
              <a:lnSpc>
                <a:spcPts val="3007"/>
              </a:lnSpc>
              <a:spcBef>
                <a:spcPct val="0"/>
              </a:spcBef>
              <a:buFont typeface="Arial"/>
              <a:buChar char="•"/>
            </a:pPr>
            <a:r>
              <a:rPr lang="en-US" sz="2919" b="1" spc="116">
                <a:solidFill>
                  <a:srgbClr val="FEDEE1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GENERATED CUSTOM C++ SCRIPT USING AI</a:t>
            </a:r>
          </a:p>
          <a:p>
            <a:pPr algn="l">
              <a:lnSpc>
                <a:spcPts val="3007"/>
              </a:lnSpc>
              <a:spcBef>
                <a:spcPct val="0"/>
              </a:spcBef>
            </a:pPr>
            <a:endParaRPr lang="en-US" sz="2919" b="1" spc="116">
              <a:solidFill>
                <a:srgbClr val="FEDEE1"/>
              </a:solidFill>
              <a:latin typeface="Arial Unicode Bold"/>
              <a:ea typeface="Arial Unicode Bold"/>
              <a:cs typeface="Arial Unicode Bold"/>
              <a:sym typeface="Arial Unicode Bold"/>
            </a:endParaRPr>
          </a:p>
          <a:p>
            <a:pPr marL="630427" lvl="1" indent="-315214" algn="l">
              <a:lnSpc>
                <a:spcPts val="3007"/>
              </a:lnSpc>
              <a:spcBef>
                <a:spcPct val="0"/>
              </a:spcBef>
              <a:buFont typeface="Arial"/>
              <a:buChar char="•"/>
            </a:pPr>
            <a:r>
              <a:rPr lang="en-US" sz="2919" b="1" spc="116">
                <a:solidFill>
                  <a:srgbClr val="FEDEE1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DATA GENERATION: CALCULATED VARIABLE FRAME SIZES DYNAMICALLY</a:t>
            </a:r>
          </a:p>
          <a:p>
            <a:pPr algn="l">
              <a:lnSpc>
                <a:spcPts val="3007"/>
              </a:lnSpc>
              <a:spcBef>
                <a:spcPct val="0"/>
              </a:spcBef>
            </a:pPr>
            <a:endParaRPr lang="en-US" sz="2919" b="1" spc="116">
              <a:solidFill>
                <a:srgbClr val="FEDEE1"/>
              </a:solidFill>
              <a:latin typeface="Arial Unicode Bold"/>
              <a:ea typeface="Arial Unicode Bold"/>
              <a:cs typeface="Arial Unicode Bold"/>
              <a:sym typeface="Arial Unicode Bold"/>
            </a:endParaRPr>
          </a:p>
          <a:p>
            <a:pPr marL="630427" lvl="1" indent="-315214" algn="l">
              <a:lnSpc>
                <a:spcPts val="3007"/>
              </a:lnSpc>
              <a:spcBef>
                <a:spcPct val="0"/>
              </a:spcBef>
              <a:buFont typeface="Arial"/>
              <a:buChar char="•"/>
            </a:pPr>
            <a:r>
              <a:rPr lang="en-US" sz="2919" b="1" spc="116">
                <a:solidFill>
                  <a:srgbClr val="FEDEE1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FRAGMENTATION: SPLIT LARGE FRAMES INTO PACKETS (~1400 BYTES)</a:t>
            </a:r>
          </a:p>
          <a:p>
            <a:pPr algn="l">
              <a:lnSpc>
                <a:spcPts val="3007"/>
              </a:lnSpc>
              <a:spcBef>
                <a:spcPct val="0"/>
              </a:spcBef>
            </a:pPr>
            <a:endParaRPr lang="en-US" sz="2919" b="1" spc="116">
              <a:solidFill>
                <a:srgbClr val="FEDEE1"/>
              </a:solidFill>
              <a:latin typeface="Arial Unicode Bold"/>
              <a:ea typeface="Arial Unicode Bold"/>
              <a:cs typeface="Arial Unicode Bold"/>
              <a:sym typeface="Arial Unicode Bold"/>
            </a:endParaRPr>
          </a:p>
          <a:p>
            <a:pPr marL="630427" lvl="1" indent="-315214" algn="l">
              <a:lnSpc>
                <a:spcPts val="3007"/>
              </a:lnSpc>
              <a:spcBef>
                <a:spcPct val="0"/>
              </a:spcBef>
              <a:buFont typeface="Arial"/>
              <a:buChar char="•"/>
            </a:pPr>
            <a:r>
              <a:rPr lang="en-US" sz="2919" b="1" spc="116">
                <a:solidFill>
                  <a:srgbClr val="FEDEE1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PROTOCOL: UDP</a:t>
            </a:r>
          </a:p>
          <a:p>
            <a:pPr algn="l">
              <a:lnSpc>
                <a:spcPts val="3007"/>
              </a:lnSpc>
              <a:spcBef>
                <a:spcPct val="0"/>
              </a:spcBef>
            </a:pPr>
            <a:endParaRPr lang="en-US" sz="2919" b="1" spc="116">
              <a:solidFill>
                <a:srgbClr val="FEDEE1"/>
              </a:solidFill>
              <a:latin typeface="Arial Unicode Bold"/>
              <a:ea typeface="Arial Unicode Bold"/>
              <a:cs typeface="Arial Unicode Bold"/>
              <a:sym typeface="Arial Unicode Bol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1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417321" y="2376105"/>
            <a:ext cx="10690564" cy="6681602"/>
          </a:xfrm>
          <a:custGeom>
            <a:avLst/>
            <a:gdLst/>
            <a:ahLst/>
            <a:cxnLst/>
            <a:rect l="l" t="t" r="r" b="b"/>
            <a:pathLst>
              <a:path w="10690564" h="6681602">
                <a:moveTo>
                  <a:pt x="0" y="0"/>
                </a:moveTo>
                <a:lnTo>
                  <a:pt x="10690564" y="0"/>
                </a:lnTo>
                <a:lnTo>
                  <a:pt x="10690564" y="6681602"/>
                </a:lnTo>
                <a:lnTo>
                  <a:pt x="0" y="66816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891903" y="812072"/>
            <a:ext cx="16367397" cy="1363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61"/>
              </a:lnSpc>
            </a:pPr>
            <a:r>
              <a:rPr lang="en-US" sz="11602" spc="-568">
                <a:solidFill>
                  <a:srgbClr val="FEDEE1"/>
                </a:solidFill>
                <a:latin typeface="Anton"/>
                <a:ea typeface="Anton"/>
                <a:cs typeface="Anton"/>
                <a:sym typeface="Anton"/>
              </a:rPr>
              <a:t>PROOF OF EXECUTION (WIRESHARK)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903837" y="9296400"/>
            <a:ext cx="14082194" cy="405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7"/>
              </a:lnSpc>
              <a:spcBef>
                <a:spcPct val="0"/>
              </a:spcBef>
            </a:pPr>
            <a:r>
              <a:rPr lang="en-US" sz="2919" b="1" spc="116">
                <a:solidFill>
                  <a:srgbClr val="FEDEE1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SOURCE: 10.1.1.1 | DESTINATION: 10.1.1.2 | PROTOCOL: UDP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1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91430" y="2946152"/>
            <a:ext cx="15608777" cy="5389358"/>
          </a:xfrm>
          <a:custGeom>
            <a:avLst/>
            <a:gdLst/>
            <a:ahLst/>
            <a:cxnLst/>
            <a:rect l="l" t="t" r="r" b="b"/>
            <a:pathLst>
              <a:path w="15608777" h="5389358">
                <a:moveTo>
                  <a:pt x="0" y="0"/>
                </a:moveTo>
                <a:lnTo>
                  <a:pt x="15608777" y="0"/>
                </a:lnTo>
                <a:lnTo>
                  <a:pt x="15608777" y="5389358"/>
                </a:lnTo>
                <a:lnTo>
                  <a:pt x="0" y="53893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0610" b="-1479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891903" y="859697"/>
            <a:ext cx="16367397" cy="1544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136"/>
              </a:lnSpc>
            </a:pPr>
            <a:r>
              <a:rPr lang="en-US" sz="13101" spc="-641">
                <a:solidFill>
                  <a:srgbClr val="FEDEE1"/>
                </a:solidFill>
                <a:latin typeface="Anton"/>
                <a:ea typeface="Anton"/>
                <a:cs typeface="Anton"/>
                <a:sym typeface="Anton"/>
              </a:rPr>
              <a:t>TIMING VERIFICATION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115941" y="9074379"/>
            <a:ext cx="14082194" cy="405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7"/>
              </a:lnSpc>
              <a:spcBef>
                <a:spcPct val="0"/>
              </a:spcBef>
            </a:pPr>
            <a:r>
              <a:rPr lang="en-US" sz="2919" b="1" spc="116">
                <a:solidFill>
                  <a:srgbClr val="FEDEE1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PDF &amp; CDF OF INTER-ARRIVAL TIME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1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84777" y="2856117"/>
            <a:ext cx="17518447" cy="5440157"/>
          </a:xfrm>
          <a:custGeom>
            <a:avLst/>
            <a:gdLst/>
            <a:ahLst/>
            <a:cxnLst/>
            <a:rect l="l" t="t" r="r" b="b"/>
            <a:pathLst>
              <a:path w="17518447" h="5440157">
                <a:moveTo>
                  <a:pt x="0" y="0"/>
                </a:moveTo>
                <a:lnTo>
                  <a:pt x="17518446" y="0"/>
                </a:lnTo>
                <a:lnTo>
                  <a:pt x="17518446" y="5440157"/>
                </a:lnTo>
                <a:lnTo>
                  <a:pt x="0" y="54401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5792" b="-12371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891903" y="859697"/>
            <a:ext cx="16367397" cy="1544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136"/>
              </a:lnSpc>
            </a:pPr>
            <a:r>
              <a:rPr lang="en-US" sz="13101" spc="-641">
                <a:solidFill>
                  <a:srgbClr val="FEDEE1"/>
                </a:solidFill>
                <a:latin typeface="Anton"/>
                <a:ea typeface="Anton"/>
                <a:cs typeface="Anton"/>
                <a:sym typeface="Anton"/>
              </a:rPr>
              <a:t>PACKET SIZE VERIFICATION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115941" y="9074379"/>
            <a:ext cx="14082194" cy="405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7"/>
              </a:lnSpc>
              <a:spcBef>
                <a:spcPct val="0"/>
              </a:spcBef>
            </a:pPr>
            <a:r>
              <a:rPr lang="en-US" sz="2919" b="1" spc="116">
                <a:solidFill>
                  <a:srgbClr val="FEDEE1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PDF &amp; CDF OF FRAME SIZE DISTRIBUTION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1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91903" y="859697"/>
            <a:ext cx="16367397" cy="1544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136"/>
              </a:lnSpc>
            </a:pPr>
            <a:r>
              <a:rPr lang="en-US" sz="13101" spc="-641">
                <a:solidFill>
                  <a:srgbClr val="FEDEE1"/>
                </a:solidFill>
                <a:latin typeface="Anton"/>
                <a:ea typeface="Anton"/>
                <a:cs typeface="Anton"/>
                <a:sym typeface="Anton"/>
              </a:rPr>
              <a:t>CONCLUSION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1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10502" y="3739320"/>
            <a:ext cx="17348659" cy="1799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83"/>
              </a:lnSpc>
              <a:spcBef>
                <a:spcPct val="0"/>
              </a:spcBef>
            </a:pPr>
            <a:r>
              <a:rPr lang="en-US" sz="5202" spc="-254">
                <a:solidFill>
                  <a:srgbClr val="FEDEE1"/>
                </a:solidFill>
                <a:latin typeface="Anton"/>
                <a:ea typeface="Anton"/>
                <a:cs typeface="Anton"/>
                <a:sym typeface="Anton"/>
              </a:rPr>
              <a:t>→ SUCCESSFULLY COMPILED AND RAN NS-3 ON MACOS</a:t>
            </a:r>
          </a:p>
          <a:p>
            <a:pPr algn="l">
              <a:lnSpc>
                <a:spcPts val="7283"/>
              </a:lnSpc>
              <a:spcBef>
                <a:spcPct val="0"/>
              </a:spcBef>
            </a:pPr>
            <a:endParaRPr lang="en-US" sz="5202" spc="-254">
              <a:solidFill>
                <a:srgbClr val="FEDEE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891903" y="859697"/>
            <a:ext cx="16367397" cy="1544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136"/>
              </a:lnSpc>
            </a:pPr>
            <a:r>
              <a:rPr lang="en-US" sz="13101" spc="-641">
                <a:solidFill>
                  <a:srgbClr val="FEDEE1"/>
                </a:solidFill>
                <a:latin typeface="Anton"/>
                <a:ea typeface="Anton"/>
                <a:cs typeface="Anton"/>
                <a:sym typeface="Anton"/>
              </a:rPr>
              <a:t>CONCLUSION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1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10502" y="3739320"/>
            <a:ext cx="17348659" cy="2722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83"/>
              </a:lnSpc>
              <a:spcBef>
                <a:spcPct val="0"/>
              </a:spcBef>
            </a:pPr>
            <a:r>
              <a:rPr lang="en-US" sz="5202" spc="-254">
                <a:solidFill>
                  <a:srgbClr val="FEDEE1"/>
                </a:solidFill>
                <a:latin typeface="Anton"/>
                <a:ea typeface="Anton"/>
                <a:cs typeface="Anton"/>
                <a:sym typeface="Anton"/>
              </a:rPr>
              <a:t>→ SUCCESSFULLY COMPILED AND RAN NS-3 ON MACOS</a:t>
            </a:r>
          </a:p>
          <a:p>
            <a:pPr algn="l">
              <a:lnSpc>
                <a:spcPts val="7283"/>
              </a:lnSpc>
              <a:spcBef>
                <a:spcPct val="0"/>
              </a:spcBef>
            </a:pPr>
            <a:r>
              <a:rPr lang="en-US" sz="5202" spc="-254">
                <a:solidFill>
                  <a:srgbClr val="FEDEE1"/>
                </a:solidFill>
                <a:latin typeface="Anton"/>
                <a:ea typeface="Anton"/>
                <a:cs typeface="Anton"/>
                <a:sym typeface="Anton"/>
              </a:rPr>
              <a:t>→ ACCURATELY MODELED THE 3GPP TR 26.926 XR STANDARD</a:t>
            </a:r>
          </a:p>
          <a:p>
            <a:pPr algn="l">
              <a:lnSpc>
                <a:spcPts val="7283"/>
              </a:lnSpc>
              <a:spcBef>
                <a:spcPct val="0"/>
              </a:spcBef>
            </a:pPr>
            <a:endParaRPr lang="en-US" sz="5202" spc="-254">
              <a:solidFill>
                <a:srgbClr val="FEDEE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891903" y="859697"/>
            <a:ext cx="16367397" cy="1544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136"/>
              </a:lnSpc>
            </a:pPr>
            <a:r>
              <a:rPr lang="en-US" sz="13101" spc="-641">
                <a:solidFill>
                  <a:srgbClr val="FEDEE1"/>
                </a:solidFill>
                <a:latin typeface="Anton"/>
                <a:ea typeface="Anton"/>
                <a:cs typeface="Anton"/>
                <a:sym typeface="Anton"/>
              </a:rPr>
              <a:t>CONCLUSION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1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10502" y="3739320"/>
            <a:ext cx="17348659" cy="2722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83"/>
              </a:lnSpc>
              <a:spcBef>
                <a:spcPct val="0"/>
              </a:spcBef>
            </a:pPr>
            <a:r>
              <a:rPr lang="en-US" sz="5202" spc="-254">
                <a:solidFill>
                  <a:srgbClr val="FEDEE1"/>
                </a:solidFill>
                <a:latin typeface="Anton"/>
                <a:ea typeface="Anton"/>
                <a:cs typeface="Anton"/>
                <a:sym typeface="Anton"/>
              </a:rPr>
              <a:t>→ SUCCESSFULLY COMPILED AND RAN NS-3 ON MACOS</a:t>
            </a:r>
          </a:p>
          <a:p>
            <a:pPr algn="l">
              <a:lnSpc>
                <a:spcPts val="7283"/>
              </a:lnSpc>
              <a:spcBef>
                <a:spcPct val="0"/>
              </a:spcBef>
            </a:pPr>
            <a:r>
              <a:rPr lang="en-US" sz="5202" spc="-254">
                <a:solidFill>
                  <a:srgbClr val="FEDEE1"/>
                </a:solidFill>
                <a:latin typeface="Anton"/>
                <a:ea typeface="Anton"/>
                <a:cs typeface="Anton"/>
                <a:sym typeface="Anton"/>
              </a:rPr>
              <a:t>→ ACCURATELY MODELED THE 3GPP TR 26.926 XR STANDARD</a:t>
            </a:r>
          </a:p>
          <a:p>
            <a:pPr algn="l">
              <a:lnSpc>
                <a:spcPts val="7283"/>
              </a:lnSpc>
              <a:spcBef>
                <a:spcPct val="0"/>
              </a:spcBef>
            </a:pPr>
            <a:r>
              <a:rPr lang="en-US" sz="5202" spc="-254">
                <a:solidFill>
                  <a:srgbClr val="FEDEE1"/>
                </a:solidFill>
                <a:latin typeface="Anton"/>
                <a:ea typeface="Anton"/>
                <a:cs typeface="Anton"/>
                <a:sym typeface="Anton"/>
              </a:rPr>
              <a:t>→ EXTRACTED PCAP AND PLOTTED MATHEMATICAL PROOFS TO VERIFY ACCURACY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91903" y="859697"/>
            <a:ext cx="16367397" cy="1544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136"/>
              </a:lnSpc>
            </a:pPr>
            <a:r>
              <a:rPr lang="en-US" sz="13101" spc="-641">
                <a:solidFill>
                  <a:srgbClr val="FEDEE1"/>
                </a:solidFill>
                <a:latin typeface="Anton"/>
                <a:ea typeface="Anton"/>
                <a:cs typeface="Anton"/>
                <a:sym typeface="Anton"/>
              </a:rPr>
              <a:t>CONCLUSION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376</Words>
  <Application>Microsoft Macintosh PowerPoint</Application>
  <PresentationFormat>Custom</PresentationFormat>
  <Paragraphs>75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Anton</vt:lpstr>
      <vt:lpstr>Arial Unicode Bold</vt:lpstr>
      <vt:lpstr>Arial</vt:lpstr>
      <vt:lpstr>Arial Unicode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a2- ns-3 Setup &amp; Traffic Model</dc:title>
  <cp:lastModifiedBy>Pauline Laure Bereau</cp:lastModifiedBy>
  <cp:revision>1</cp:revision>
  <dcterms:created xsi:type="dcterms:W3CDTF">2006-08-16T00:00:00Z</dcterms:created>
  <dcterms:modified xsi:type="dcterms:W3CDTF">2026-10-12T14:37:33Z</dcterms:modified>
  <dc:identifier>DAHXs_1Rz4E</dc:identifier>
</cp:coreProperties>
</file>